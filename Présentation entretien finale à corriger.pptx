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4"/>
    <p:sldMasterId id="2147483667" r:id="rId5"/>
    <p:sldMasterId id="2147483840" r:id="rId6"/>
  </p:sldMasterIdLst>
  <p:notesMasterIdLst>
    <p:notesMasterId r:id="rId23"/>
  </p:notesMasterIdLst>
  <p:handoutMasterIdLst>
    <p:handoutMasterId r:id="rId24"/>
  </p:handoutMasterIdLst>
  <p:sldIdLst>
    <p:sldId id="440" r:id="rId7"/>
    <p:sldId id="507" r:id="rId8"/>
    <p:sldId id="456" r:id="rId9"/>
    <p:sldId id="458" r:id="rId10"/>
    <p:sldId id="460" r:id="rId11"/>
    <p:sldId id="463" r:id="rId12"/>
    <p:sldId id="511" r:id="rId13"/>
    <p:sldId id="512" r:id="rId14"/>
    <p:sldId id="513" r:id="rId15"/>
    <p:sldId id="514" r:id="rId16"/>
    <p:sldId id="477" r:id="rId17"/>
    <p:sldId id="519" r:id="rId18"/>
    <p:sldId id="516" r:id="rId19"/>
    <p:sldId id="520" r:id="rId20"/>
    <p:sldId id="521" r:id="rId21"/>
    <p:sldId id="486" r:id="rId2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709">
          <p15:clr>
            <a:srgbClr val="A4A3A4"/>
          </p15:clr>
        </p15:guide>
        <p15:guide id="2" orient="horz" pos="282">
          <p15:clr>
            <a:srgbClr val="A4A3A4"/>
          </p15:clr>
        </p15:guide>
        <p15:guide id="3" orient="horz" pos="1121">
          <p15:clr>
            <a:srgbClr val="A4A3A4"/>
          </p15:clr>
        </p15:guide>
        <p15:guide id="4" orient="horz" pos="599">
          <p15:clr>
            <a:srgbClr val="A4A3A4"/>
          </p15:clr>
        </p15:guide>
        <p15:guide id="5" orient="horz" pos="2935">
          <p15:clr>
            <a:srgbClr val="A4A3A4"/>
          </p15:clr>
        </p15:guide>
        <p15:guide id="6" orient="horz" pos="2822">
          <p15:clr>
            <a:srgbClr val="A4A3A4"/>
          </p15:clr>
        </p15:guide>
        <p15:guide id="7" orient="horz" pos="113">
          <p15:clr>
            <a:srgbClr val="A4A3A4"/>
          </p15:clr>
        </p15:guide>
        <p15:guide id="8" orient="horz" pos="2336">
          <p15:clr>
            <a:srgbClr val="A4A3A4"/>
          </p15:clr>
        </p15:guide>
        <p15:guide id="9" orient="horz" pos="804">
          <p15:clr>
            <a:srgbClr val="A4A3A4"/>
          </p15:clr>
        </p15:guide>
        <p15:guide id="10" orient="horz" pos="1098">
          <p15:clr>
            <a:srgbClr val="A4A3A4"/>
          </p15:clr>
        </p15:guide>
        <p15:guide id="11" orient="horz" pos="2675">
          <p15:clr>
            <a:srgbClr val="A4A3A4"/>
          </p15:clr>
        </p15:guide>
        <p15:guide id="12" orient="horz" pos="327">
          <p15:clr>
            <a:srgbClr val="A4A3A4"/>
          </p15:clr>
        </p15:guide>
        <p15:guide id="13" orient="horz" pos="2754">
          <p15:clr>
            <a:srgbClr val="A4A3A4"/>
          </p15:clr>
        </p15:guide>
        <p15:guide id="14" pos="2880">
          <p15:clr>
            <a:srgbClr val="A4A3A4"/>
          </p15:clr>
        </p15:guide>
        <p15:guide id="15" pos="340">
          <p15:clr>
            <a:srgbClr val="A4A3A4"/>
          </p15:clr>
        </p15:guide>
        <p15:guide id="16" pos="5420">
          <p15:clr>
            <a:srgbClr val="A4A3A4"/>
          </p15:clr>
        </p15:guide>
        <p15:guide id="17" pos="113">
          <p15:clr>
            <a:srgbClr val="A4A3A4"/>
          </p15:clr>
        </p15:guide>
        <p15:guide id="18" pos="5171">
          <p15:clr>
            <a:srgbClr val="A4A3A4"/>
          </p15:clr>
        </p15:guide>
        <p15:guide id="19" pos="5647">
          <p15:clr>
            <a:srgbClr val="A4A3A4"/>
          </p15:clr>
        </p15:guide>
        <p15:guide id="20" pos="56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206"/>
    <a:srgbClr val="82BE00"/>
    <a:srgbClr val="FFB612"/>
    <a:srgbClr val="0088CE"/>
    <a:srgbClr val="4D4F53"/>
    <a:srgbClr val="747678"/>
    <a:srgbClr val="A0A0A0"/>
    <a:srgbClr val="B9B9B9"/>
    <a:srgbClr val="D7D7D7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45" autoAdjust="0"/>
    <p:restoredTop sz="86364" autoAdjust="0"/>
  </p:normalViewPr>
  <p:slideViewPr>
    <p:cSldViewPr showGuides="1">
      <p:cViewPr varScale="1">
        <p:scale>
          <a:sx n="104" d="100"/>
          <a:sy n="104" d="100"/>
        </p:scale>
        <p:origin x="-112" y="-704"/>
      </p:cViewPr>
      <p:guideLst>
        <p:guide orient="horz" pos="2709"/>
        <p:guide orient="horz" pos="282"/>
        <p:guide orient="horz" pos="1121"/>
        <p:guide orient="horz" pos="599"/>
        <p:guide orient="horz" pos="2935"/>
        <p:guide orient="horz" pos="2822"/>
        <p:guide orient="horz" pos="113"/>
        <p:guide orient="horz" pos="2336"/>
        <p:guide orient="horz" pos="804"/>
        <p:guide orient="horz" pos="1098"/>
        <p:guide orient="horz" pos="2675"/>
        <p:guide orient="horz" pos="327"/>
        <p:guide orient="horz" pos="2754"/>
        <p:guide pos="2880"/>
        <p:guide pos="340"/>
        <p:guide pos="5420"/>
        <p:guide pos="113"/>
        <p:guide pos="5171"/>
        <p:guide pos="5647"/>
        <p:guide pos="567"/>
      </p:guideLst>
    </p:cSldViewPr>
  </p:slideViewPr>
  <p:outlineViewPr>
    <p:cViewPr>
      <p:scale>
        <a:sx n="33" d="100"/>
        <a:sy n="33" d="100"/>
      </p:scale>
      <p:origin x="0" y="106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-352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E3AE3-68DC-42F6-BF16-B2071C513F8A}" type="datetimeFigureOut">
              <a:rPr lang="fr-FR" smtClean="0"/>
              <a:pPr/>
              <a:t>08/04/21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52FE2-D9EA-428F-B4D1-089DB1F92A3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210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08/04/21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578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4083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e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sans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179388" y="179388"/>
            <a:ext cx="8785225" cy="3529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1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BEB9169-E2A3-45FA-A689-EEDEE1FA7C06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NOM DE L’ENTITÉ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s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1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179388" y="179388"/>
            <a:ext cx="8785225" cy="3529012"/>
          </a:xfrm>
          <a:prstGeom prst="rect">
            <a:avLst/>
          </a:prstGeom>
          <a:solidFill>
            <a:srgbClr val="D7D7D7"/>
          </a:solidFill>
        </p:spPr>
        <p:txBody>
          <a:bodyPr lIns="720000" tIns="1260000" rIns="720000" anchor="ctr" anchorCtr="0"/>
          <a:lstStyle>
            <a:lvl1pPr algn="ctr">
              <a:defRPr sz="1300" baseline="0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Sélectionner l’icône pour insérer une image (format 244 x 98 mm), puis disposer l’image en arrière plan (Sélectionner l’image avec le bouton droit de la souris / Mettre à l’arrière plan). Lorsque l’image est en arrière plan, le titre apparaît.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fld id="{EE86AF4B-E743-47AF-AF85-AD58AF547A4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1157" y="179388"/>
            <a:ext cx="8782912" cy="352901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BCE1C71F-2578-4E72-A8C7-39F5FD549B35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4" y="179388"/>
            <a:ext cx="8782912" cy="352901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450D6D9-60D4-4FAC-9409-D6B396533465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4" y="179388"/>
            <a:ext cx="8782912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567CD5CC-BD80-433A-9A80-23CD481691F0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1157" y="179388"/>
            <a:ext cx="8782912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91AE3FE-410D-4D1A-B225-BF803A178692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32A2B20-C6FA-4514-908C-A323F3AA3EC9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1158" y="179388"/>
            <a:ext cx="8782909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9A205ABA-0804-4690-8AB9-AE5FCDAF2A82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1158" y="179388"/>
            <a:ext cx="8782909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42C3843C-6353-4497-9043-C4E2065B0A39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DAE3954C-7836-45C8-9C91-D43F375B0E60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07A709C0-BF3F-4530-AFB1-1E962E1705A6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1CBD5878-B767-4849-8660-713D6F9BF3E5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1158" y="179388"/>
            <a:ext cx="8782909" cy="352901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DA816A2B-BA6A-4B6E-8819-BFADA4C372C8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C08BF985-C448-4F2C-918D-F5886A3516C9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80545" y="179388"/>
            <a:ext cx="8782909" cy="352901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10" name="Espace réservé du texte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540000"/>
            <a:ext cx="8064500" cy="2880000"/>
          </a:xfrm>
        </p:spPr>
        <p:txBody>
          <a:bodyPr/>
          <a:lstStyle>
            <a:lvl1pPr>
              <a:defRPr sz="3700">
                <a:solidFill>
                  <a:schemeClr val="accent1"/>
                </a:solidFill>
              </a:defRPr>
            </a:lvl1pPr>
            <a:lvl2pPr>
              <a:defRPr sz="2300">
                <a:solidFill>
                  <a:schemeClr val="accent1"/>
                </a:solidFill>
              </a:defRPr>
            </a:lvl2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8B19E025-CE00-42A7-BD6B-9248689B1D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>
              <a:lnSpc>
                <a:spcPct val="90000"/>
              </a:lnSpc>
            </a:pPr>
            <a:r>
              <a:rPr lang="fr-FR"/>
              <a:t>NOM DE L’ENTITÉ</a:t>
            </a: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_typ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539750" y="486000"/>
            <a:ext cx="8064499" cy="464913"/>
          </a:xfrm>
        </p:spPr>
        <p:txBody>
          <a:bodyPr/>
          <a:lstStyle>
            <a:lvl1pPr>
              <a:defRPr b="0"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FDC8297-AABE-498A-BF91-24639034334E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9750" y="1267898"/>
            <a:ext cx="4722255" cy="230832"/>
          </a:xfrm>
          <a:solidFill>
            <a:schemeClr val="accent1"/>
          </a:solidFill>
        </p:spPr>
        <p:txBody>
          <a:bodyPr wrap="none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tabLst>
                <a:tab pos="355600" algn="l"/>
              </a:tabLst>
              <a:defRPr sz="1500"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01.	Titre partie (tabulation après le chiffre)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 bwMode="gray">
          <a:xfrm>
            <a:off x="900113" y="1540350"/>
            <a:ext cx="7704137" cy="468000"/>
          </a:xfrm>
        </p:spPr>
        <p:txBody>
          <a:bodyPr/>
          <a:lstStyle>
            <a:lvl1pPr marL="144000" indent="-14400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500" b="0" cap="all" baseline="0">
                <a:solidFill>
                  <a:schemeClr val="tx1"/>
                </a:solidFill>
                <a:latin typeface="+mn-lt"/>
              </a:defRPr>
            </a:lvl1pPr>
            <a:lvl2pPr marL="144000">
              <a:lnSpc>
                <a:spcPct val="90000"/>
              </a:lnSpc>
              <a:spcAft>
                <a:spcPts val="0"/>
              </a:spcAft>
              <a:defRPr b="0">
                <a:latin typeface="Avenir LT Std 65 Medium" pitchFamily="34" charset="0"/>
              </a:defRPr>
            </a:lvl2pPr>
            <a:lvl3pPr indent="0">
              <a:spcAft>
                <a:spcPts val="0"/>
              </a:spcAft>
              <a:buNone/>
              <a:defRPr b="1"/>
            </a:lvl3pPr>
            <a:lvl4pPr marL="144000" indent="0">
              <a:buNone/>
              <a:defRPr sz="1300" b="1"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8" name="Espace réservé du texte 13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9750" y="2057556"/>
            <a:ext cx="4722255" cy="230832"/>
          </a:xfrm>
          <a:solidFill>
            <a:schemeClr val="accent1"/>
          </a:solidFill>
        </p:spPr>
        <p:txBody>
          <a:bodyPr wrap="none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tabLst>
                <a:tab pos="355600" algn="l"/>
              </a:tabLst>
              <a:defRPr sz="1500"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01.	Titre partie (tabulation après le chiffre)</a:t>
            </a:r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16"/>
          </p:nvPr>
        </p:nvSpPr>
        <p:spPr bwMode="gray">
          <a:xfrm>
            <a:off x="900113" y="2330008"/>
            <a:ext cx="7704137" cy="468000"/>
          </a:xfrm>
        </p:spPr>
        <p:txBody>
          <a:bodyPr/>
          <a:lstStyle>
            <a:lvl1pPr marL="144000" indent="-14400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500" b="0" cap="all" baseline="0">
                <a:solidFill>
                  <a:schemeClr val="tx1"/>
                </a:solidFill>
                <a:latin typeface="+mn-lt"/>
              </a:defRPr>
            </a:lvl1pPr>
            <a:lvl2pPr marL="144000">
              <a:lnSpc>
                <a:spcPct val="90000"/>
              </a:lnSpc>
              <a:spcAft>
                <a:spcPts val="0"/>
              </a:spcAft>
              <a:defRPr b="0">
                <a:latin typeface="Avenir LT Std 65 Medium" pitchFamily="34" charset="0"/>
              </a:defRPr>
            </a:lvl2pPr>
            <a:lvl3pPr indent="0">
              <a:spcAft>
                <a:spcPts val="0"/>
              </a:spcAft>
              <a:buNone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0" name="Espace réservé du texte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39750" y="2851749"/>
            <a:ext cx="4722255" cy="230832"/>
          </a:xfrm>
          <a:solidFill>
            <a:schemeClr val="accent1"/>
          </a:solidFill>
        </p:spPr>
        <p:txBody>
          <a:bodyPr wrap="none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tabLst>
                <a:tab pos="355600" algn="l"/>
              </a:tabLst>
              <a:defRPr sz="1500"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01.	Titre partie (tabulation après le chiffre)</a:t>
            </a:r>
          </a:p>
        </p:txBody>
      </p:sp>
      <p:sp>
        <p:nvSpPr>
          <p:cNvPr id="21" name="Espace réservé du texte 11"/>
          <p:cNvSpPr>
            <a:spLocks noGrp="1"/>
          </p:cNvSpPr>
          <p:nvPr>
            <p:ph type="body" sz="quarter" idx="18"/>
          </p:nvPr>
        </p:nvSpPr>
        <p:spPr bwMode="gray">
          <a:xfrm>
            <a:off x="900113" y="3124201"/>
            <a:ext cx="7704137" cy="468000"/>
          </a:xfrm>
        </p:spPr>
        <p:txBody>
          <a:bodyPr/>
          <a:lstStyle>
            <a:lvl1pPr marL="144000" indent="-14400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500" b="0" cap="all" baseline="0">
                <a:solidFill>
                  <a:schemeClr val="tx1"/>
                </a:solidFill>
                <a:latin typeface="+mn-lt"/>
              </a:defRPr>
            </a:lvl1pPr>
            <a:lvl2pPr marL="144000">
              <a:lnSpc>
                <a:spcPct val="90000"/>
              </a:lnSpc>
              <a:spcAft>
                <a:spcPts val="0"/>
              </a:spcAft>
              <a:defRPr b="0">
                <a:latin typeface="Avenir LT Std 65 Medium" pitchFamily="34" charset="0"/>
              </a:defRPr>
            </a:lvl2pPr>
            <a:lvl3pPr indent="0">
              <a:spcAft>
                <a:spcPts val="0"/>
              </a:spcAft>
              <a:buNone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2" name="Espace réservé du texte 1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9750" y="3652188"/>
            <a:ext cx="4722255" cy="230832"/>
          </a:xfrm>
          <a:solidFill>
            <a:schemeClr val="accent1"/>
          </a:solidFill>
        </p:spPr>
        <p:txBody>
          <a:bodyPr wrap="none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tabLst>
                <a:tab pos="355600" algn="l"/>
              </a:tabLst>
              <a:defRPr sz="1500"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01.	Titre partie (tabulation après le chiffre)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 bwMode="gray">
          <a:xfrm>
            <a:off x="900113" y="3924640"/>
            <a:ext cx="7704137" cy="468000"/>
          </a:xfrm>
        </p:spPr>
        <p:txBody>
          <a:bodyPr/>
          <a:lstStyle>
            <a:lvl1pPr marL="144000" indent="-144000">
              <a:lnSpc>
                <a:spcPct val="90000"/>
              </a:lnSpc>
              <a:spcAft>
                <a:spcPts val="0"/>
              </a:spcAft>
              <a:buFont typeface="Avenir LT Std 45 Book" pitchFamily="34" charset="0"/>
              <a:buChar char="+"/>
              <a:defRPr sz="1500" b="0" cap="all" baseline="0">
                <a:solidFill>
                  <a:schemeClr val="tx1"/>
                </a:solidFill>
                <a:latin typeface="+mn-lt"/>
              </a:defRPr>
            </a:lvl1pPr>
            <a:lvl2pPr marL="144000">
              <a:lnSpc>
                <a:spcPct val="90000"/>
              </a:lnSpc>
              <a:spcAft>
                <a:spcPts val="0"/>
              </a:spcAft>
              <a:defRPr b="0">
                <a:latin typeface="Avenir LT Std 65 Medium" pitchFamily="34" charset="0"/>
              </a:defRPr>
            </a:lvl2pPr>
            <a:lvl3pPr indent="0">
              <a:spcAft>
                <a:spcPts val="0"/>
              </a:spcAft>
              <a:buNone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_typ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539751" y="486000"/>
            <a:ext cx="8064499" cy="464913"/>
          </a:xfrm>
        </p:spPr>
        <p:txBody>
          <a:bodyPr/>
          <a:lstStyle>
            <a:lvl1pPr>
              <a:defRPr b="0"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3FA5093-367C-4A54-8923-A9B534C5CF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3"/>
          </p:nvPr>
        </p:nvSpPr>
        <p:spPr bwMode="gray">
          <a:xfrm>
            <a:off x="539751" y="1276350"/>
            <a:ext cx="8064499" cy="3203575"/>
          </a:xfrm>
        </p:spPr>
        <p:txBody>
          <a:bodyPr/>
          <a:lstStyle>
            <a:lvl1pPr>
              <a:spcBef>
                <a:spcPts val="1400"/>
              </a:spcBef>
              <a:spcAft>
                <a:spcPts val="500"/>
              </a:spcAft>
              <a:defRPr sz="1500" b="0" cap="all" baseline="0">
                <a:latin typeface="Avenir LT Std 65 Medium" pitchFamily="34" charset="0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1500" cap="all" baseline="0">
                <a:latin typeface="Avenir LT Std 55 Roman" pitchFamily="34" charset="0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None/>
              <a:defRPr sz="1500" cap="all" baseline="0"/>
            </a:lvl3pPr>
            <a:lvl4pPr marL="0" indent="0">
              <a:lnSpc>
                <a:spcPct val="90000"/>
              </a:lnSpc>
              <a:spcAft>
                <a:spcPts val="0"/>
              </a:spcAft>
              <a:buNone/>
              <a:defRPr sz="1500" cap="all" baseline="0"/>
            </a:lvl4pPr>
            <a:lvl5pPr marL="0" indent="0">
              <a:lnSpc>
                <a:spcPct val="90000"/>
              </a:lnSpc>
              <a:spcAft>
                <a:spcPts val="0"/>
              </a:spcAft>
              <a:defRPr sz="1500" cap="all" baseline="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 bwMode="gray">
          <a:xfrm>
            <a:off x="179387" y="179388"/>
            <a:ext cx="8785225" cy="3529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FB06CD4-EC53-4DE0-9E52-A5A2309437CF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267495"/>
            <a:ext cx="8064500" cy="1931604"/>
          </a:xfrm>
        </p:spPr>
        <p:txBody>
          <a:bodyPr anchor="b" anchorCtr="0"/>
          <a:lstStyle>
            <a:lvl1pPr>
              <a:lnSpc>
                <a:spcPct val="90000"/>
              </a:lnSpc>
              <a:spcAft>
                <a:spcPts val="0"/>
              </a:spcAft>
              <a:defRPr sz="5000" b="0" kern="120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35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539750" y="2344180"/>
            <a:ext cx="8064500" cy="1350000"/>
          </a:xfrm>
        </p:spPr>
        <p:txBody>
          <a:bodyPr/>
          <a:lstStyle>
            <a:lvl1pPr marL="180000" indent="-180000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+"/>
              <a:defRPr sz="1600" b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_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 bwMode="gray">
          <a:xfrm>
            <a:off x="179388" y="179388"/>
            <a:ext cx="8785225" cy="3529012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9EA3F7-F814-4788-B7CF-DAFE603EB1C6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1669454"/>
            <a:ext cx="5762796" cy="230832"/>
          </a:xfrm>
          <a:solidFill>
            <a:schemeClr val="accent1"/>
          </a:solidFill>
        </p:spPr>
        <p:txBody>
          <a:bodyPr wrap="none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500" b="0" kern="120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  <a:lvl2pPr>
              <a:lnSpc>
                <a:spcPct val="90000"/>
              </a:lnSpc>
              <a:defRPr sz="35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4"/>
          </p:nvPr>
        </p:nvSpPr>
        <p:spPr bwMode="gray">
          <a:xfrm>
            <a:off x="539750" y="1947070"/>
            <a:ext cx="8064500" cy="135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3500" b="0" cap="all" baseline="0">
                <a:solidFill>
                  <a:schemeClr val="accent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5"/>
          </p:nvPr>
        </p:nvSpPr>
        <p:spPr bwMode="gray">
          <a:xfrm>
            <a:off x="539750" y="1438622"/>
            <a:ext cx="5762796" cy="230832"/>
          </a:xfrm>
          <a:solidFill>
            <a:schemeClr val="accent1"/>
          </a:solidFill>
        </p:spPr>
        <p:txBody>
          <a:bodyPr wrap="none" anchor="ctr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500" b="0" kern="120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  <a:lvl2pPr>
              <a:lnSpc>
                <a:spcPct val="90000"/>
              </a:lnSpc>
              <a:defRPr sz="3500" cap="all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roche_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texte 14"/>
          <p:cNvSpPr>
            <a:spLocks noGrp="1"/>
          </p:cNvSpPr>
          <p:nvPr>
            <p:ph type="body" sz="quarter" idx="19"/>
          </p:nvPr>
        </p:nvSpPr>
        <p:spPr bwMode="gray">
          <a:xfrm>
            <a:off x="539750" y="633882"/>
            <a:ext cx="8064500" cy="3600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500" b="0" cap="all" baseline="0">
                <a:latin typeface="+mj-lt"/>
              </a:defRPr>
            </a:lvl1pPr>
            <a:lvl2pPr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defRPr sz="1500" b="0" cap="all" baseline="0">
                <a:solidFill>
                  <a:srgbClr val="747678"/>
                </a:solidFill>
                <a:latin typeface="+mn-lt"/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2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179388" y="179387"/>
            <a:ext cx="8785224" cy="4140000"/>
          </a:xfrm>
          <a:prstGeom prst="rect">
            <a:avLst/>
          </a:prstGeom>
          <a:solidFill>
            <a:srgbClr val="D7D7D7"/>
          </a:solidFill>
        </p:spPr>
        <p:txBody>
          <a:bodyPr lIns="720000" tIns="1260000" rIns="720000" anchor="ctr" anchorCtr="0"/>
          <a:lstStyle>
            <a:lvl1pPr algn="ctr">
              <a:defRPr sz="13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(format 244 x 115 mm), puis disposer l’image en arrière plan (Sélectionner l’image avec le bouton droit de la souris / Mettre à l’arrière plan). Lorsque l’image est en arrière plan, le titre apparaît.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3C775C6-955B-43E6-9774-A2C30F5FF605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 dirty="0"/>
              <a:t>NOM DE L’ENTITÉ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roche_visu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79388" y="180308"/>
            <a:ext cx="8782157" cy="4138157"/>
          </a:xfrm>
          <a:prstGeom prst="rect">
            <a:avLst/>
          </a:prstGeom>
        </p:spPr>
      </p:pic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D512BC5-75C3-4179-B2B5-29972C48F4E3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9"/>
          </p:nvPr>
        </p:nvSpPr>
        <p:spPr bwMode="gray">
          <a:xfrm>
            <a:off x="539750" y="633883"/>
            <a:ext cx="8064500" cy="3600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500" b="0" cap="all" baseline="0">
                <a:latin typeface="+mj-lt"/>
              </a:defRPr>
            </a:lvl1pPr>
            <a:lvl2pPr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defRPr sz="1500" cap="all" baseline="0">
                <a:solidFill>
                  <a:srgbClr val="747678"/>
                </a:solidFill>
                <a:latin typeface="+mn-lt"/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roche_visuel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PPT_Packshot_244x130,5_01.jpg"/>
          <p:cNvPicPr preferRelativeResize="0"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 bwMode="gray">
          <a:xfrm>
            <a:off x="179388" y="180308"/>
            <a:ext cx="8782156" cy="4138157"/>
          </a:xfrm>
          <a:prstGeom prst="rect">
            <a:avLst/>
          </a:prstGeom>
        </p:spPr>
      </p:pic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E6A83A0-993D-45EB-AE9E-AAA9C70EB756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9"/>
          </p:nvPr>
        </p:nvSpPr>
        <p:spPr bwMode="gray">
          <a:xfrm>
            <a:off x="539750" y="633883"/>
            <a:ext cx="8064500" cy="3600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500" b="0" cap="all" baseline="0">
                <a:latin typeface="+mj-lt"/>
              </a:defRPr>
            </a:lvl1pPr>
            <a:lvl2pPr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defRPr sz="1500" cap="all" baseline="0">
                <a:solidFill>
                  <a:srgbClr val="747678"/>
                </a:solidFill>
                <a:latin typeface="+mn-lt"/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Avenir LT Std 65 Medium" pitchFamily="34" charset="0"/>
              </a:defRPr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1pPr>
              <a:defRPr b="1">
                <a:latin typeface="Avenir LT Std 65 Medium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4189DFE-3398-4C2B-B724-0BCFD5A3749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2_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4"/>
            <a:ext cx="3960000" cy="273685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246ED89-FB8D-4E33-8149-CF59E3DB66C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2" name="Espace réservé du contenu 2"/>
          <p:cNvSpPr>
            <a:spLocks noGrp="1"/>
          </p:cNvSpPr>
          <p:nvPr>
            <p:ph idx="19" hasCustomPrompt="1"/>
          </p:nvPr>
        </p:nvSpPr>
        <p:spPr bwMode="gray">
          <a:xfrm>
            <a:off x="4644250" y="1743074"/>
            <a:ext cx="3960000" cy="273685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1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4"/>
            <a:ext cx="3960000" cy="273685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DD960AF-8783-4AEF-A205-920E639EF3C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644250" y="1779588"/>
            <a:ext cx="3960000" cy="2520950"/>
          </a:xfrm>
          <a:prstGeom prst="rect">
            <a:avLst/>
          </a:prstGeom>
          <a:solidFill>
            <a:srgbClr val="D7D7D7"/>
          </a:solidFill>
        </p:spPr>
        <p:txBody>
          <a:bodyPr lIns="360000" tIns="1728000" rIns="360000" anchor="ctr" anchorCtr="0"/>
          <a:lstStyle>
            <a:lvl1pPr algn="ctr">
              <a:defRPr sz="13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(format 110 x 70 mm)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5"/>
            <a:ext cx="8064499" cy="1665768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E339589-D6FF-4735-8890-6E54BA77ABE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tabLst/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1" name="Espace réservé du texte 13"/>
          <p:cNvSpPr>
            <a:spLocks noGrp="1"/>
          </p:cNvSpPr>
          <p:nvPr>
            <p:ph type="body" sz="quarter" idx="14"/>
          </p:nvPr>
        </p:nvSpPr>
        <p:spPr bwMode="gray">
          <a:xfrm>
            <a:off x="539750" y="3531246"/>
            <a:ext cx="4824000" cy="515901"/>
          </a:xfrm>
          <a:solidFill>
            <a:srgbClr val="D7D7D7"/>
          </a:solidFill>
          <a:ln w="82550">
            <a:solidFill>
              <a:srgbClr val="D7D7D7"/>
            </a:solidFill>
            <a:miter lim="800000"/>
          </a:ln>
        </p:spPr>
        <p:txBody>
          <a:bodyPr tIns="36000" bIns="36000">
            <a:sp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16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4"/>
            <a:ext cx="3960000" cy="273685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F6184B-37C4-47CC-92BF-3EC69897EF0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tabLst/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graphique 14"/>
          <p:cNvSpPr>
            <a:spLocks noGrp="1"/>
          </p:cNvSpPr>
          <p:nvPr>
            <p:ph type="chart" sz="quarter" idx="14" hasCustomPrompt="1"/>
          </p:nvPr>
        </p:nvSpPr>
        <p:spPr bwMode="gray">
          <a:xfrm>
            <a:off x="4644250" y="1779588"/>
            <a:ext cx="3960000" cy="2700337"/>
          </a:xfrm>
        </p:spPr>
        <p:txBody>
          <a:bodyPr tIns="720000" anchor="ctr" anchorCtr="0"/>
          <a:lstStyle>
            <a:lvl1pPr algn="ctr">
              <a:defRPr b="0" cap="all" baseline="0">
                <a:latin typeface="+mn-lt"/>
              </a:defRPr>
            </a:lvl1pPr>
          </a:lstStyle>
          <a:p>
            <a:r>
              <a:rPr lang="fr-FR" dirty="0"/>
              <a:t>GRAPHIQUE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BB8C596-E753-456F-8AAF-3E3783BB5473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graphique 14"/>
          <p:cNvSpPr>
            <a:spLocks noGrp="1"/>
          </p:cNvSpPr>
          <p:nvPr>
            <p:ph type="chart" sz="quarter" idx="14" hasCustomPrompt="1"/>
          </p:nvPr>
        </p:nvSpPr>
        <p:spPr bwMode="gray">
          <a:xfrm>
            <a:off x="539750" y="1779588"/>
            <a:ext cx="8064500" cy="2700337"/>
          </a:xfrm>
        </p:spPr>
        <p:txBody>
          <a:bodyPr tIns="720000" anchor="ctr" anchorCtr="0"/>
          <a:lstStyle>
            <a:lvl1pPr algn="ctr">
              <a:defRPr b="0" cap="all" baseline="0">
                <a:latin typeface="+mn-lt"/>
              </a:defRPr>
            </a:lvl1pPr>
          </a:lstStyle>
          <a:p>
            <a:r>
              <a:rPr lang="fr-FR" dirty="0"/>
              <a:t>GRAPHIQUE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graphique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graphique 14"/>
          <p:cNvSpPr>
            <a:spLocks noGrp="1"/>
          </p:cNvSpPr>
          <p:nvPr>
            <p:ph type="chart" sz="quarter" idx="14" hasCustomPrompt="1"/>
          </p:nvPr>
        </p:nvSpPr>
        <p:spPr bwMode="gray">
          <a:xfrm>
            <a:off x="539750" y="1779588"/>
            <a:ext cx="8064500" cy="2700337"/>
          </a:xfrm>
        </p:spPr>
        <p:txBody>
          <a:bodyPr tIns="720000" anchor="ctr" anchorCtr="0"/>
          <a:lstStyle>
            <a:lvl1pPr algn="ctr">
              <a:defRPr b="0" cap="all" baseline="0">
                <a:latin typeface="+mn-lt"/>
              </a:defRPr>
            </a:lvl1pPr>
          </a:lstStyle>
          <a:p>
            <a:r>
              <a:rPr lang="fr-FR" dirty="0"/>
              <a:t>GRAPHIQUE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1685482-7B87-4CBC-A7F1-02983018758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5"/>
          </p:nvPr>
        </p:nvSpPr>
        <p:spPr bwMode="gray">
          <a:xfrm>
            <a:off x="5652120" y="1743075"/>
            <a:ext cx="2952131" cy="1908573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tableau_typ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638B8A3-40AE-497E-B51E-5E6D042F50FF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Espace réservé du tableau 12"/>
          <p:cNvSpPr>
            <a:spLocks noGrp="1"/>
          </p:cNvSpPr>
          <p:nvPr>
            <p:ph type="tbl" sz="quarter" idx="14"/>
          </p:nvPr>
        </p:nvSpPr>
        <p:spPr bwMode="gray">
          <a:xfrm>
            <a:off x="539751" y="1779588"/>
            <a:ext cx="8064499" cy="2340000"/>
          </a:xfrm>
        </p:spPr>
        <p:txBody>
          <a:bodyPr tIns="720000" anchor="ctr" anchorCtr="0"/>
          <a:lstStyle>
            <a:lvl1pPr algn="ctr">
              <a:spcAft>
                <a:spcPts val="0"/>
              </a:spcAft>
              <a:defRPr b="0" cap="all" baseline="0"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987674" y="414662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807804" y="4209318"/>
            <a:ext cx="93600" cy="936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19" name="Espace réservé du texte 16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166818" y="414662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0" name="Espace réservé du texte 16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986948" y="4209318"/>
            <a:ext cx="93600" cy="936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1" name="Espace réservé du texte 16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45962" y="414662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2" name="Espace réservé du texte 16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166092" y="4209318"/>
            <a:ext cx="93600" cy="936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3" name="Espace réservé du texte 16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525106" y="414662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4" name="Espace réservé du texte 16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345236" y="4209318"/>
            <a:ext cx="93600" cy="936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5" name="Espace réservé du texte 16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7704250" y="414662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6" name="Espace réservé du texte 16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524380" y="4209318"/>
            <a:ext cx="93600" cy="936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tableau_typ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F86308C-0F99-4A35-8FFB-57E81CC28E93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tabLst/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Espace réservé du tableau 12"/>
          <p:cNvSpPr>
            <a:spLocks noGrp="1"/>
          </p:cNvSpPr>
          <p:nvPr>
            <p:ph type="tbl" sz="quarter" idx="14"/>
          </p:nvPr>
        </p:nvSpPr>
        <p:spPr bwMode="gray">
          <a:xfrm>
            <a:off x="539750" y="1779588"/>
            <a:ext cx="8064499" cy="2160000"/>
          </a:xfrm>
        </p:spPr>
        <p:txBody>
          <a:bodyPr tIns="720000" anchor="ctr" anchorCtr="0"/>
          <a:lstStyle>
            <a:lvl1pPr algn="ctr">
              <a:spcAft>
                <a:spcPts val="0"/>
              </a:spcAft>
              <a:defRPr b="0" cap="all" baseline="0"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987674" y="414807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807804" y="4209318"/>
            <a:ext cx="93600" cy="936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19" name="Espace réservé du texte 16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166818" y="414807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0" name="Espace réservé du texte 16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986948" y="4209318"/>
            <a:ext cx="93600" cy="936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1" name="Espace réservé du texte 16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45962" y="414807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2" name="Espace réservé du texte 16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166092" y="4209318"/>
            <a:ext cx="93600" cy="936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3" name="Espace réservé du texte 16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525106" y="414807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4" name="Espace réservé du texte 16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345236" y="4209318"/>
            <a:ext cx="93600" cy="93600"/>
          </a:xfrm>
          <a:prstGeom prst="ellipse">
            <a:avLst/>
          </a:prstGeom>
          <a:solidFill>
            <a:schemeClr val="accent5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25" name="Espace réservé du texte 16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7704250" y="4148070"/>
            <a:ext cx="900000" cy="216000"/>
          </a:xfrm>
        </p:spPr>
        <p:txBody>
          <a:bodyPr anchor="ctr" anchorCtr="0"/>
          <a:lstStyle>
            <a:lvl1pPr>
              <a:spcAft>
                <a:spcPts val="0"/>
              </a:spcAft>
              <a:defRPr sz="10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6" name="Espace réservé du texte 16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524380" y="4209318"/>
            <a:ext cx="93600" cy="936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>
              <a:spcAft>
                <a:spcPts val="0"/>
              </a:spcAft>
              <a:defRPr sz="100" b="0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&amp;_cartouche_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5"/>
            <a:ext cx="3960000" cy="273685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51AF0E6-54F4-4E95-A773-AE9402F1BDC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 bwMode="gray">
          <a:xfrm>
            <a:off x="4644250" y="1779588"/>
            <a:ext cx="3960000" cy="486000"/>
          </a:xfrm>
          <a:solidFill>
            <a:schemeClr val="accent1"/>
          </a:solidFill>
        </p:spPr>
        <p:txBody>
          <a:bodyPr lIns="288000" tIns="18000" rIns="72000" bIns="0" anchor="ctr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/>
          </p:nvPr>
        </p:nvSpPr>
        <p:spPr bwMode="gray">
          <a:xfrm>
            <a:off x="4644250" y="2355726"/>
            <a:ext cx="3960000" cy="1944812"/>
          </a:xfrm>
          <a:solidFill>
            <a:schemeClr val="accent1"/>
          </a:solidFill>
        </p:spPr>
        <p:txBody>
          <a:bodyPr wrap="square" lIns="144000" tIns="72000" rIns="72000" bIns="72000" anchor="t" anchorCtr="0">
            <a:noAutofit/>
          </a:bodyPr>
          <a:lstStyle>
            <a:lvl1pPr marL="144000" indent="-144000">
              <a:buFont typeface="Avenir LT Std 45 Book" pitchFamily="34" charset="0"/>
              <a:buChar char="+"/>
              <a:defRPr b="0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&amp;_cartouche_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4824250" y="1156814"/>
            <a:ext cx="3780000" cy="332311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1784D26-4B94-4E70-B0BD-7B9C00523F1F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 bwMode="gray">
          <a:xfrm>
            <a:off x="539750" y="519522"/>
            <a:ext cx="3780000" cy="3781016"/>
          </a:xfrm>
          <a:solidFill>
            <a:schemeClr val="accent1"/>
          </a:solidFill>
        </p:spPr>
        <p:txBody>
          <a:bodyPr lIns="288000" tIns="630000" rIns="72000" bIns="108000" anchor="t" anchorCtr="0">
            <a:noAutofit/>
          </a:bodyPr>
          <a:lstStyle>
            <a:lvl1pPr marL="216000" indent="-216000">
              <a:lnSpc>
                <a:spcPct val="90000"/>
              </a:lnSpc>
              <a:spcAft>
                <a:spcPts val="0"/>
              </a:spcAft>
              <a:buFont typeface="Avenir LT Std 65 Medium" pitchFamily="34" charset="0"/>
              <a:buChar char="+"/>
              <a:defRPr sz="2200" b="0" cap="all" baseline="0">
                <a:solidFill>
                  <a:schemeClr val="bg1"/>
                </a:solidFill>
                <a:latin typeface="Avenir LT Std 65 Medium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_&amp;_2_cartou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571F57B-5976-43F5-BE4F-E7D8400003B5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/>
          </p:nvPr>
        </p:nvSpPr>
        <p:spPr bwMode="gray">
          <a:xfrm>
            <a:off x="4824250" y="519113"/>
            <a:ext cx="3780000" cy="3781425"/>
          </a:xfrm>
          <a:noFill/>
        </p:spPr>
        <p:txBody>
          <a:bodyPr lIns="0" tIns="36000" rIns="0" bIns="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200" b="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930339" y="2049826"/>
            <a:ext cx="720000" cy="720000"/>
          </a:xfrm>
          <a:prstGeom prst="diamond">
            <a:avLst/>
          </a:prstGeom>
          <a:solidFill>
            <a:schemeClr val="accent1"/>
          </a:solidFill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100" b="0" cap="all" baseline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fr-FR" dirty="0"/>
              <a:t> 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 bwMode="gray">
          <a:xfrm>
            <a:off x="539750" y="519114"/>
            <a:ext cx="3780000" cy="3781424"/>
          </a:xfrm>
          <a:solidFill>
            <a:schemeClr val="accent1"/>
          </a:solidFill>
        </p:spPr>
        <p:txBody>
          <a:bodyPr lIns="288000" tIns="144000" rIns="72000" bIns="108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2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touches_petites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9750" y="2427453"/>
            <a:ext cx="2520082" cy="1873085"/>
          </a:xfrm>
          <a:solidFill>
            <a:srgbClr val="D7D7D7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1200" b="0" cap="all" baseline="0">
                <a:solidFill>
                  <a:schemeClr val="tx1"/>
                </a:solidFill>
                <a:latin typeface="Avenir LT Std 35 Light" pitchFamily="34" charset="0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473AD4A-E615-4FE5-9C7F-5FEE9FEB22BC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39750" y="1779588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17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83568" y="2499833"/>
            <a:ext cx="828000" cy="828000"/>
          </a:xfrm>
          <a:prstGeom prst="rect">
            <a:avLst/>
          </a:prstGeom>
          <a:noFill/>
        </p:spPr>
        <p:txBody>
          <a:bodyPr lIns="0" tIns="0" rIns="0" anchor="ctr" anchorCtr="0"/>
          <a:lstStyle>
            <a:lvl1pPr algn="ctr">
              <a:defRPr sz="8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(format 23 x 23 mm)</a:t>
            </a:r>
          </a:p>
        </p:txBody>
      </p:sp>
      <p:sp>
        <p:nvSpPr>
          <p:cNvPr id="18" name="Espace réservé du texte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11959" y="2427454"/>
            <a:ext cx="2520082" cy="1873085"/>
          </a:xfrm>
          <a:solidFill>
            <a:srgbClr val="D7D7D7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1200" b="0" cap="all" baseline="0">
                <a:solidFill>
                  <a:schemeClr val="tx1"/>
                </a:solidFill>
                <a:latin typeface="Avenir LT Std 35 Light" pitchFamily="34" charset="0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19" name="Espace réservé du texte 11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311959" y="1779589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20" name="Espace réservé pour une image  10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3455777" y="2499834"/>
            <a:ext cx="828000" cy="828000"/>
          </a:xfrm>
          <a:prstGeom prst="rect">
            <a:avLst/>
          </a:prstGeom>
          <a:noFill/>
        </p:spPr>
        <p:txBody>
          <a:bodyPr lIns="0" tIns="0" rIns="0" anchor="ctr" anchorCtr="0"/>
          <a:lstStyle>
            <a:lvl1pPr algn="ctr">
              <a:defRPr sz="8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(format 23 x 23 mm)</a:t>
            </a:r>
          </a:p>
        </p:txBody>
      </p:sp>
      <p:sp>
        <p:nvSpPr>
          <p:cNvPr id="21" name="Espace réservé du texte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6084168" y="2427454"/>
            <a:ext cx="2520082" cy="1873085"/>
          </a:xfrm>
          <a:solidFill>
            <a:schemeClr val="accent1"/>
          </a:solidFill>
        </p:spPr>
        <p:txBody>
          <a:bodyPr lIns="144000" tIns="1008000" rIns="72000" bIns="36000" anchor="t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1200" b="0" cap="all" baseline="0">
                <a:solidFill>
                  <a:schemeClr val="bg1"/>
                </a:solidFill>
                <a:latin typeface="Avenir LT Std 35 Light" pitchFamily="34" charset="0"/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22" name="Espace réservé du texte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084168" y="1779589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23" name="Espace réservé pour une image  10"/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6227986" y="2499834"/>
            <a:ext cx="828000" cy="828000"/>
          </a:xfrm>
          <a:prstGeom prst="rect">
            <a:avLst/>
          </a:prstGeom>
          <a:noFill/>
        </p:spPr>
        <p:txBody>
          <a:bodyPr lIns="0" tIns="0" rIns="0" anchor="ctr" anchorCtr="0"/>
          <a:lstStyle>
            <a:lvl1pPr algn="ctr">
              <a:defRPr sz="800" b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(format 23 x 23 mm)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rtouches_grandes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6D735C2-B06A-4BAD-A8C7-A54CF9198DEF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80645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39750" y="1779588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17" name="Espace réservé pour une image  10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539832" y="2427589"/>
            <a:ext cx="2520000" cy="1872950"/>
          </a:xfrm>
          <a:prstGeom prst="rect">
            <a:avLst/>
          </a:prstGeom>
          <a:solidFill>
            <a:srgbClr val="D7D7D7"/>
          </a:solidFill>
        </p:spPr>
        <p:txBody>
          <a:bodyPr lIns="36000" tIns="972000" rIns="36000" anchor="ctr" anchorCtr="0"/>
          <a:lstStyle>
            <a:lvl1pPr algn="ctr">
              <a:defRPr sz="13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format ( 70 x 52 mm)</a:t>
            </a:r>
          </a:p>
        </p:txBody>
      </p:sp>
      <p:sp>
        <p:nvSpPr>
          <p:cNvPr id="25" name="Espace réservé du texte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11959" y="1779588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26" name="Espace réservé pour une image  10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312041" y="2427589"/>
            <a:ext cx="2520000" cy="1872950"/>
          </a:xfrm>
          <a:prstGeom prst="rect">
            <a:avLst/>
          </a:prstGeom>
          <a:solidFill>
            <a:srgbClr val="D7D7D7"/>
          </a:solidFill>
        </p:spPr>
        <p:txBody>
          <a:bodyPr lIns="36000" tIns="972000" rIns="36000" anchor="ctr" anchorCtr="0"/>
          <a:lstStyle>
            <a:lvl1pPr algn="ctr">
              <a:defRPr sz="13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format ( 70 x 52 mm)</a:t>
            </a:r>
          </a:p>
        </p:txBody>
      </p:sp>
      <p:sp>
        <p:nvSpPr>
          <p:cNvPr id="27" name="Espace réservé du texte 1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084168" y="1779588"/>
            <a:ext cx="2520082" cy="648000"/>
          </a:xfrm>
          <a:solidFill>
            <a:schemeClr val="accent1"/>
          </a:solidFill>
        </p:spPr>
        <p:txBody>
          <a:bodyPr lIns="144000" tIns="72000" rIns="72000" bIns="36000" anchor="ctr" anchorCtr="0">
            <a:no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itchFamily="34" charset="0"/>
              <a:buNone/>
              <a:defRPr sz="20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0. titre</a:t>
            </a:r>
          </a:p>
        </p:txBody>
      </p:sp>
      <p:sp>
        <p:nvSpPr>
          <p:cNvPr id="28" name="Espace réservé pour une image  10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6084250" y="2427589"/>
            <a:ext cx="2520000" cy="1872950"/>
          </a:xfrm>
          <a:prstGeom prst="rect">
            <a:avLst/>
          </a:prstGeom>
          <a:solidFill>
            <a:srgbClr val="D7D7D7"/>
          </a:solidFill>
        </p:spPr>
        <p:txBody>
          <a:bodyPr lIns="36000" tIns="972000" rIns="36000" anchor="ctr" anchorCtr="0"/>
          <a:lstStyle>
            <a:lvl1pPr algn="ctr">
              <a:defRPr sz="1300" b="0" cap="all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dirty="0"/>
              <a:t>Sélectionner l’icône pour insérer une image format ( 70 x 52 mm)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C9895F1-BE1E-4D35-AF89-AE7FD50F5C1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447675"/>
            <a:ext cx="8064500" cy="4032250"/>
          </a:xfrm>
        </p:spPr>
        <p:txBody>
          <a:bodyPr anchor="ctr" anchorCtr="0"/>
          <a:lstStyle>
            <a:lvl1pPr marL="360000" indent="-360000">
              <a:lnSpc>
                <a:spcPct val="90000"/>
              </a:lnSpc>
              <a:spcBef>
                <a:spcPts val="3200"/>
              </a:spcBef>
              <a:buFont typeface="Avenir LT Std 65 Medium" pitchFamily="34" charset="0"/>
              <a:buChar char="+"/>
              <a:defRPr sz="2800" b="0" cap="all" baseline="0"/>
            </a:lvl1pPr>
            <a:lvl2pPr marL="360000">
              <a:lnSpc>
                <a:spcPct val="90000"/>
              </a:lnSpc>
              <a:spcAft>
                <a:spcPts val="0"/>
              </a:spcAft>
              <a:defRPr sz="1500" cap="all" baseline="0">
                <a:latin typeface="+mn-lt"/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539751" y="1743074"/>
            <a:ext cx="3960000" cy="273685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93E9F58-C1CC-4366-9DD7-1720A355AAD8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950913"/>
            <a:ext cx="4824000" cy="432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400" b="0" cap="all" baseline="0">
                <a:solidFill>
                  <a:srgbClr val="747678"/>
                </a:solidFill>
                <a:latin typeface="+mn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de_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noProof="0" dirty="0"/>
              <a:t>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08997CB-8E01-4F2D-BBCA-DEC3B8C8B16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 bwMode="gray">
          <a:xfrm>
            <a:off x="539750" y="303610"/>
            <a:ext cx="8064500" cy="331200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38.xml"/><Relationship Id="rId24" Type="http://schemas.openxmlformats.org/officeDocument/2006/relationships/theme" Target="../theme/theme2.xml"/><Relationship Id="rId25" Type="http://schemas.openxmlformats.org/officeDocument/2006/relationships/image" Target="../media/image1.png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1" y="4920853"/>
            <a:ext cx="179388" cy="21609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274489" y="4813200"/>
            <a:ext cx="6934473" cy="16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ct val="114000"/>
              </a:lnSpc>
              <a:defRPr sz="800" cap="all" baseline="0">
                <a:solidFill>
                  <a:schemeClr val="tx1"/>
                </a:solidFill>
              </a:defRPr>
            </a:lvl1pPr>
          </a:lstStyle>
          <a:p>
            <a:fld id="{CAFC0DDF-3ED5-4BF0-BC60-0C331281BAB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179388" y="4659313"/>
            <a:ext cx="8029575" cy="1620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 b="0" cap="all" baseline="0">
                <a:solidFill>
                  <a:schemeClr val="tx1"/>
                </a:solidFill>
                <a:latin typeface="Avenir LT Std 65 Medium" pitchFamily="34" charset="0"/>
              </a:defRPr>
            </a:lvl1pPr>
          </a:lstStyle>
          <a:p>
            <a:pPr algn="l">
              <a:lnSpc>
                <a:spcPct val="90000"/>
              </a:lnSpc>
            </a:pPr>
            <a:r>
              <a:rPr lang="fr-FR" dirty="0"/>
              <a:t>NOM DE L’ENTITÉ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-793" y="4920853"/>
            <a:ext cx="180181" cy="2226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Rectangle 8"/>
          <p:cNvSpPr/>
          <p:nvPr/>
        </p:nvSpPr>
        <p:spPr bwMode="gray">
          <a:xfrm>
            <a:off x="179388" y="4821562"/>
            <a:ext cx="945772" cy="1231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fr-FR" sz="800" dirty="0">
                <a:solidFill>
                  <a:schemeClr val="bg1"/>
                </a:solidFill>
              </a:rPr>
              <a:t>DIFFUSION LIMITÉE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idx="1"/>
          </p:nvPr>
        </p:nvSpPr>
        <p:spPr bwMode="gray">
          <a:xfrm>
            <a:off x="539750" y="540000"/>
            <a:ext cx="8064500" cy="216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8" name="Rectangle 7"/>
          <p:cNvSpPr/>
          <p:nvPr/>
        </p:nvSpPr>
        <p:spPr bwMode="gray">
          <a:xfrm>
            <a:off x="1127811" y="4813200"/>
            <a:ext cx="144000" cy="1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800" b="1" dirty="0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13" name="Image 12" descr="logo_sncf.pn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316218" y="4322050"/>
            <a:ext cx="792000" cy="79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45" r:id="rId3"/>
    <p:sldLayoutId id="2147483846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</p:sldLayoutIdLst>
  <p:transition xmlns:p14="http://schemas.microsoft.com/office/powerpoint/2010/main" spd="slow" advClick="0" advTm="20000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00" b="0" kern="1200" cap="all" baseline="0">
          <a:solidFill>
            <a:schemeClr val="bg1">
              <a:alpha val="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itchFamily="34" charset="0"/>
        <a:buNone/>
        <a:defRPr sz="4500" b="0" kern="1200" cap="all" baseline="0">
          <a:solidFill>
            <a:schemeClr val="bg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None/>
        <a:defRPr sz="3000" kern="1200" cap="all" baseline="0">
          <a:solidFill>
            <a:schemeClr val="bg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accent1"/>
        </a:buClr>
        <a:buSzPct val="100000"/>
        <a:buFont typeface="Arial" pitchFamily="34" charset="0"/>
        <a:buChar char="+"/>
        <a:defRPr sz="13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-7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Aria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16000" indent="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539750" y="485776"/>
            <a:ext cx="8064499" cy="4651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539749" y="4813200"/>
            <a:ext cx="7669213" cy="16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ct val="114000"/>
              </a:lnSpc>
              <a:defRPr sz="800" cap="all" baseline="0">
                <a:solidFill>
                  <a:schemeClr val="tx1"/>
                </a:solidFill>
              </a:defRPr>
            </a:lvl1pPr>
          </a:lstStyle>
          <a:p>
            <a:fld id="{22D97D37-0B11-4078-996A-5BC52C3F4B4E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179388" y="4659313"/>
            <a:ext cx="8029575" cy="1620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lnSpc>
                <a:spcPct val="90000"/>
              </a:lnSpc>
              <a:defRPr sz="800" b="0" cap="all" baseline="0">
                <a:solidFill>
                  <a:srgbClr val="A0A0A0"/>
                </a:solidFill>
                <a:latin typeface="Avenir LT Std 65 Medium" pitchFamily="34" charset="0"/>
              </a:defRPr>
            </a:lvl1pPr>
          </a:lstStyle>
          <a:p>
            <a:pPr algn="l"/>
            <a:r>
              <a:rPr lang="fr-FR" dirty="0"/>
              <a:t>NOM DE L’ENTITÉ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79387" y="4813200"/>
            <a:ext cx="360362" cy="16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ct val="114000"/>
              </a:lnSpc>
              <a:defRPr sz="800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539751" y="1743074"/>
            <a:ext cx="8064499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394094" y="4813200"/>
            <a:ext cx="144000" cy="1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14000"/>
              </a:lnSpc>
            </a:pPr>
            <a:r>
              <a:rPr lang="fr-FR" sz="800" b="1" dirty="0">
                <a:solidFill>
                  <a:schemeClr val="tx1"/>
                </a:solidFill>
              </a:rPr>
              <a:t>–</a:t>
            </a:r>
          </a:p>
        </p:txBody>
      </p:sp>
      <p:pic>
        <p:nvPicPr>
          <p:cNvPr id="11" name="Image 10" descr="logo_sncf.png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8316218" y="4322050"/>
            <a:ext cx="792000" cy="79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58" r:id="rId6"/>
    <p:sldLayoutId id="2147483859" r:id="rId7"/>
    <p:sldLayoutId id="2147483798" r:id="rId8"/>
    <p:sldLayoutId id="2147483842" r:id="rId9"/>
    <p:sldLayoutId id="2147483827" r:id="rId10"/>
    <p:sldLayoutId id="2147483828" r:id="rId11"/>
    <p:sldLayoutId id="2147483830" r:id="rId12"/>
    <p:sldLayoutId id="2147483831" r:id="rId13"/>
    <p:sldLayoutId id="2147483860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29" r:id="rId20"/>
    <p:sldLayoutId id="2147483838" r:id="rId21"/>
    <p:sldLayoutId id="2147483839" r:id="rId22"/>
    <p:sldLayoutId id="2147483837" r:id="rId23"/>
  </p:sldLayoutIdLst>
  <p:transition xmlns:p14="http://schemas.microsoft.com/office/powerpoint/2010/main" spd="slow" advClick="0" advTm="20000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accent1"/>
          </a:solidFill>
          <a:latin typeface="Avenir LT Std 65 Medium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300" b="1" kern="1200">
          <a:solidFill>
            <a:schemeClr val="accent1"/>
          </a:solidFill>
          <a:latin typeface="Avenir LT Std 65 Medium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accent1"/>
        </a:buClr>
        <a:buSzPct val="100000"/>
        <a:buFont typeface="Avenir LT Std 65 Medium" pitchFamily="34" charset="0"/>
        <a:buChar char="+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72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75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gray">
          <a:xfrm>
            <a:off x="179387" y="179388"/>
            <a:ext cx="8785225" cy="3529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1" y="4920853"/>
            <a:ext cx="179388" cy="21609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" y="4920853"/>
            <a:ext cx="179388" cy="2226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0FCA4D1A-11E6-40A1-87A1-71CF720F504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1" y="4920853"/>
            <a:ext cx="179388" cy="2226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00" b="1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algn="l"/>
            <a:r>
              <a:rPr lang="fr-FR"/>
              <a:t>NOM DE L’ENTITÉ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-793" y="4920853"/>
            <a:ext cx="180181" cy="22264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idx="1"/>
          </p:nvPr>
        </p:nvSpPr>
        <p:spPr bwMode="gray">
          <a:xfrm>
            <a:off x="539750" y="303610"/>
            <a:ext cx="8064500" cy="331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13" name="Image 12" descr="logo_sncf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16218" y="4322050"/>
            <a:ext cx="792000" cy="79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</p:sldLayoutIdLst>
  <p:transition xmlns:p14="http://schemas.microsoft.com/office/powerpoint/2010/main" spd="slow" advClick="0" advTm="20000">
    <p:wip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00" b="0" kern="1200" cap="all" baseline="0">
          <a:solidFill>
            <a:schemeClr val="bg1">
              <a:alpha val="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itchFamily="34" charset="0"/>
        <a:buNone/>
        <a:defRPr sz="1700" b="0" kern="1200" cap="all" baseline="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itchFamily="34" charset="0"/>
        <a:buNone/>
        <a:defRPr sz="2500" kern="1200" cap="all" baseline="0">
          <a:solidFill>
            <a:schemeClr val="bg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accent1"/>
        </a:buClr>
        <a:buSzPct val="100000"/>
        <a:buFont typeface="Arial" pitchFamily="34" charset="0"/>
        <a:buChar char="+"/>
        <a:defRPr sz="13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-72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Aria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16000" indent="0" algn="l" defTabSz="914400" rtl="0" eaLnBrk="1" latinLnBrk="0" hangingPunct="1">
        <a:lnSpc>
          <a:spcPct val="100000"/>
        </a:lnSpc>
        <a:spcBef>
          <a:spcPts val="0"/>
        </a:spcBef>
        <a:buSzPct val="100000"/>
        <a:buFont typeface="Arial" pitchFamily="34" charset="0"/>
        <a:buNone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39750" y="540000"/>
            <a:ext cx="8064500" cy="2391790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Rapport de Stage</a:t>
            </a:r>
            <a:endParaRPr lang="fr-FR" dirty="0"/>
          </a:p>
          <a:p>
            <a:endParaRPr lang="fr-FR" dirty="0"/>
          </a:p>
          <a:p>
            <a:pPr lvl="1"/>
            <a:r>
              <a:rPr lang="fr-FR" dirty="0"/>
              <a:t>Métiers de l’informatique : conception, développement, et tests de logiciels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>
          <a:xfrm>
            <a:off x="1274490" y="4813200"/>
            <a:ext cx="6177832" cy="162000"/>
          </a:xfrm>
        </p:spPr>
        <p:txBody>
          <a:bodyPr/>
          <a:lstStyle/>
          <a:p>
            <a:fld id="{4900AA30-C661-4701-BB55-DEF1DA4F05B6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6"/>
          </p:nvPr>
        </p:nvSpPr>
        <p:spPr>
          <a:xfrm>
            <a:off x="179389" y="4659313"/>
            <a:ext cx="7272932" cy="162018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07E25FC0-9A18-435C-A7E0-313A2908D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1D8E14F0-952F-493C-BCE6-DF23D5BE5AAB}"/>
              </a:ext>
            </a:extLst>
          </p:cNvPr>
          <p:cNvSpPr txBox="1"/>
          <p:nvPr/>
        </p:nvSpPr>
        <p:spPr>
          <a:xfrm>
            <a:off x="7380312" y="336383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2020-2021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  <a:p>
            <a:pPr lvl="1"/>
            <a:r>
              <a:rPr lang="fr-FR" b="1" dirty="0" smtClean="0"/>
              <a:t>François Tardieu </a:t>
            </a:r>
            <a:endParaRPr lang="fr-FR" b="1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b="1" dirty="0"/>
              <a:t>Age</a:t>
            </a:r>
            <a:r>
              <a:rPr lang="fr-FR" dirty="0"/>
              <a:t> : </a:t>
            </a:r>
            <a:r>
              <a:rPr lang="fr-FR" dirty="0" smtClean="0"/>
              <a:t>30 </a:t>
            </a:r>
            <a:r>
              <a:rPr lang="fr-FR" dirty="0"/>
              <a:t>ans</a:t>
            </a:r>
          </a:p>
          <a:p>
            <a:r>
              <a:rPr lang="fr-FR" b="1" dirty="0" smtClean="0"/>
              <a:t>Poste</a:t>
            </a:r>
            <a:r>
              <a:rPr lang="fr-FR" dirty="0" smtClean="0"/>
              <a:t> </a:t>
            </a:r>
            <a:r>
              <a:rPr lang="fr-FR" dirty="0"/>
              <a:t>: Développeur web dans le domaine ingénierie et gestion de capacité du pôle solution métier de la direction des systèmes d’information du fret </a:t>
            </a:r>
            <a:r>
              <a:rPr lang="fr-FR" dirty="0" smtClean="0"/>
              <a:t>SNCF</a:t>
            </a:r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C460-605C-46BB-B379-44F8252B29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B5493F0D-316C-4241-B868-478BF1BD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394430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39552" y="1131590"/>
            <a:ext cx="6463308" cy="230832"/>
          </a:xfrm>
        </p:spPr>
        <p:txBody>
          <a:bodyPr>
            <a:normAutofit/>
          </a:bodyPr>
          <a:lstStyle/>
          <a:p>
            <a:r>
              <a:rPr lang="fr-FR" dirty="0"/>
              <a:t>01.	</a:t>
            </a:r>
            <a:r>
              <a:rPr lang="fr-FR" dirty="0" smtClean="0"/>
              <a:t>L’entreprise</a:t>
            </a:r>
            <a:r>
              <a:rPr lang="fr-FR" dirty="0"/>
              <a:t>				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899592" y="1419622"/>
            <a:ext cx="7776343" cy="527344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LE FRET SNCF</a:t>
            </a:r>
            <a:endParaRPr lang="fr-FR" dirty="0"/>
          </a:p>
          <a:p>
            <a:r>
              <a:rPr lang="fr-FR" dirty="0" smtClean="0"/>
              <a:t>Intégrations</a:t>
            </a:r>
            <a:endParaRPr lang="fr-FR" dirty="0"/>
          </a:p>
          <a:p>
            <a:r>
              <a:rPr lang="fr-FR" dirty="0" smtClean="0"/>
              <a:t>Chiffres</a:t>
            </a:r>
            <a:endParaRPr lang="fr-FR" dirty="0"/>
          </a:p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>
          <a:xfrm>
            <a:off x="539750" y="2057556"/>
            <a:ext cx="6463308" cy="230832"/>
          </a:xfrm>
        </p:spPr>
        <p:txBody>
          <a:bodyPr/>
          <a:lstStyle/>
          <a:p>
            <a:r>
              <a:rPr lang="fr-FR" dirty="0"/>
              <a:t>02.	Processus de développement				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fr-FR" dirty="0"/>
              <a:t>Acteurs, rôles et interactions</a:t>
            </a:r>
          </a:p>
          <a:p>
            <a:r>
              <a:rPr lang="fr-FR" dirty="0"/>
              <a:t>Développement type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7"/>
          </p:nvPr>
        </p:nvSpPr>
        <p:spPr>
          <a:xfrm>
            <a:off x="539552" y="2787774"/>
            <a:ext cx="6463308" cy="230832"/>
          </a:xfrm>
        </p:spPr>
        <p:txBody>
          <a:bodyPr/>
          <a:lstStyle/>
          <a:p>
            <a:r>
              <a:rPr lang="fr-FR" dirty="0"/>
              <a:t>03.	missions réalisées					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8"/>
          </p:nvPr>
        </p:nvSpPr>
        <p:spPr>
          <a:xfrm>
            <a:off x="899592" y="3075806"/>
            <a:ext cx="7704137" cy="576064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Développement</a:t>
            </a:r>
          </a:p>
          <a:p>
            <a:r>
              <a:rPr lang="fr-FR" dirty="0" smtClean="0"/>
              <a:t>Modifications</a:t>
            </a:r>
          </a:p>
          <a:p>
            <a:r>
              <a:rPr lang="fr-FR" dirty="0" smtClean="0"/>
              <a:t>correctifs</a:t>
            </a:r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9"/>
          </p:nvPr>
        </p:nvSpPr>
        <p:spPr>
          <a:xfrm>
            <a:off x="539552" y="3579862"/>
            <a:ext cx="6463308" cy="230832"/>
          </a:xfrm>
        </p:spPr>
        <p:txBody>
          <a:bodyPr/>
          <a:lstStyle/>
          <a:p>
            <a:r>
              <a:rPr lang="fr-FR" dirty="0"/>
              <a:t>04.	BILAN							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20"/>
          </p:nvPr>
        </p:nvSpPr>
        <p:spPr>
          <a:xfrm>
            <a:off x="899592" y="3939902"/>
            <a:ext cx="7704137" cy="468000"/>
          </a:xfrm>
        </p:spPr>
        <p:txBody>
          <a:bodyPr/>
          <a:lstStyle/>
          <a:p>
            <a:r>
              <a:rPr lang="fr-FR" dirty="0"/>
              <a:t>Challenges rencontrés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16" name="Espace réservé de la date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B4AC-A964-4728-A061-C36689ACC8AF}" type="datetime2">
              <a:rPr lang="fr-FR" smtClean="0"/>
              <a:pPr/>
              <a:t>vendredi 9 avril 21</a:t>
            </a:fld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291429A-54BC-492E-B4A6-08C9BDAEB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01.</a:t>
            </a:r>
          </a:p>
          <a:p>
            <a:pPr lvl="1"/>
            <a:r>
              <a:rPr lang="fr-FR" dirty="0" smtClean="0"/>
              <a:t>L’entreprise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Le fret </a:t>
            </a:r>
            <a:r>
              <a:rPr lang="fr-FR" dirty="0" smtClean="0"/>
              <a:t>SNCF</a:t>
            </a:r>
            <a:endParaRPr lang="fr-FR" dirty="0"/>
          </a:p>
          <a:p>
            <a:r>
              <a:rPr lang="fr-FR" dirty="0"/>
              <a:t>la direction des systèmes d’information</a:t>
            </a:r>
          </a:p>
          <a:p>
            <a:r>
              <a:rPr lang="fr-FR" dirty="0"/>
              <a:t>le domaine ingénierie et gestion de capacité du pôle solution SI métier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C460-605C-46BB-B379-44F8252B29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B5493F0D-316C-4241-B868-478BF1BD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AFF7-BB6C-4329-9845-A28C9DA24FA2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CAF5CF0E-9F24-4B49-A7B8-C451B909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itre 5">
            <a:extLst>
              <a:ext uri="{FF2B5EF4-FFF2-40B4-BE49-F238E27FC236}">
                <a16:creationId xmlns:a16="http://schemas.microsoft.com/office/drawing/2014/main" xmlns="" id="{E5A384EB-9CC9-489B-9787-2A54FB402D6E}"/>
              </a:ext>
            </a:extLst>
          </p:cNvPr>
          <p:cNvSpPr txBox="1">
            <a:spLocks/>
          </p:cNvSpPr>
          <p:nvPr/>
        </p:nvSpPr>
        <p:spPr>
          <a:xfrm>
            <a:off x="467544" y="474154"/>
            <a:ext cx="8064499" cy="46513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accent1"/>
                </a:solidFill>
                <a:latin typeface="Avenir LT Std 65 Medium" pitchFamily="34" charset="0"/>
                <a:ea typeface="+mj-ea"/>
                <a:cs typeface="+mj-cs"/>
              </a:defRPr>
            </a:lvl1pPr>
          </a:lstStyle>
          <a:p>
            <a:r>
              <a:rPr lang="fr-FR" dirty="0"/>
              <a:t>01. </a:t>
            </a:r>
            <a:r>
              <a:rPr lang="fr-FR" dirty="0" smtClean="0"/>
              <a:t>Le Groupe SNCF</a:t>
            </a:r>
            <a:endParaRPr lang="fr-FR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xmlns="" id="{AA5D3C95-8E09-4FA5-9DFF-51EC4706DD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26" y="1185446"/>
            <a:ext cx="8496745" cy="34110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L’Entreprise</a:t>
            </a:r>
            <a:endParaRPr lang="fr-FR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539751" y="1743074"/>
            <a:ext cx="3816225" cy="2736851"/>
          </a:xfrm>
        </p:spPr>
        <p:txBody>
          <a:bodyPr>
            <a:normAutofit/>
          </a:bodyPr>
          <a:lstStyle/>
          <a:p>
            <a:r>
              <a:rPr lang="fr-FR" dirty="0"/>
              <a:t>Missions :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rgbClr val="3C3732"/>
                </a:solidFill>
                <a:effectLst/>
                <a:uLnTx/>
                <a:uFillTx/>
                <a:latin typeface="Avenir LT Std 45 Book"/>
                <a:ea typeface="+mn-ea"/>
                <a:cs typeface="+mn-cs"/>
              </a:rPr>
              <a:t>Membre du Groupe SNCF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Société anonyme depuis le 1</a:t>
            </a:r>
            <a:r>
              <a:rPr lang="fr-FR" baseline="30000" dirty="0">
                <a:solidFill>
                  <a:srgbClr val="3C3732"/>
                </a:solidFill>
                <a:latin typeface="Avenir LT Std 45 Book"/>
              </a:rPr>
              <a:t>er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 janvier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2020</a:t>
            </a: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None/>
              <a:tabLst/>
              <a:defRPr/>
            </a:pPr>
            <a:endParaRPr lang="fr-FR" dirty="0"/>
          </a:p>
          <a:p>
            <a:r>
              <a:rPr lang="fr-FR" dirty="0"/>
              <a:t>Missions :</a:t>
            </a:r>
          </a:p>
          <a:p>
            <a:pPr lvl="2"/>
            <a:r>
              <a:rPr lang="fr-FR" dirty="0"/>
              <a:t>Transport ferroviaire de fret</a:t>
            </a:r>
          </a:p>
          <a:p>
            <a:pPr lvl="2"/>
            <a:r>
              <a:rPr lang="fr-FR" dirty="0"/>
              <a:t>Marchandises transportées variées </a:t>
            </a:r>
          </a:p>
          <a:p>
            <a:pPr lvl="2"/>
            <a:r>
              <a:rPr lang="fr-FR" dirty="0"/>
              <a:t>Soutien logistique et matériel</a:t>
            </a:r>
          </a:p>
          <a:p>
            <a:pPr marL="0" lvl="2" indent="0">
              <a:buNone/>
            </a:pPr>
            <a:endParaRPr lang="fr-FR" dirty="0"/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3C3732"/>
              </a:solidFill>
              <a:effectLst/>
              <a:uLnTx/>
              <a:uFillTx/>
              <a:latin typeface="Avenir LT Std 45 Book"/>
              <a:ea typeface="+mn-ea"/>
              <a:cs typeface="+mn-cs"/>
            </a:endParaRPr>
          </a:p>
          <a:p>
            <a:pPr marL="0" lvl="2" indent="0">
              <a:buNone/>
            </a:pP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… dans le fret </a:t>
            </a:r>
            <a:r>
              <a:rPr lang="fr-FR" dirty="0" smtClean="0"/>
              <a:t>SNCF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  <a:p>
            <a:pPr marL="0" lvl="2" indent="0">
              <a:buNone/>
            </a:pPr>
            <a:endParaRPr lang="fr-FR" dirty="0"/>
          </a:p>
          <a:p>
            <a:r>
              <a:rPr lang="fr-FR" dirty="0" smtClean="0"/>
              <a:t>… le domaine ingénierie et gestion de capacité du pôle solution SI métier</a:t>
            </a:r>
          </a:p>
          <a:p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vendredi 9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contenu 6">
            <a:extLst>
              <a:ext uri="{FF2B5EF4-FFF2-40B4-BE49-F238E27FC236}">
                <a16:creationId xmlns:a16="http://schemas.microsoft.com/office/drawing/2014/main" xmlns="" id="{2F139AAB-7837-4A55-9061-0C1E1CBDE5D6}"/>
              </a:ext>
            </a:extLst>
          </p:cNvPr>
          <p:cNvSpPr txBox="1">
            <a:spLocks/>
          </p:cNvSpPr>
          <p:nvPr/>
        </p:nvSpPr>
        <p:spPr bwMode="gray">
          <a:xfrm>
            <a:off x="4571999" y="1743074"/>
            <a:ext cx="4032249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Atouts : 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Réducteur d’émission de C0²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Réducteur de Traffic routier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/>
              <a:t>Ajout majeur de la France post COVID-19</a:t>
            </a:r>
          </a:p>
          <a:p>
            <a:pPr lvl="2">
              <a:buClr>
                <a:srgbClr val="009AA6"/>
              </a:buClr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r>
              <a:rPr lang="fr-FR" dirty="0"/>
              <a:t>En chiffre : 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10 227 M€ de chiffre d’affaire (SNCF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Logistiques 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- 2019)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6 300 employés (2020)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9% du trafic de transport de marchandise ferroviaire (2019)</a:t>
            </a:r>
          </a:p>
          <a:p>
            <a:pPr lvl="2">
              <a:buClr>
                <a:srgbClr val="009AA6"/>
              </a:buClr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marL="0" lvl="2" indent="0">
              <a:buFont typeface="Avenir LT Std 65 Medium" pitchFamily="34" charset="0"/>
              <a:buNone/>
            </a:pPr>
            <a:endParaRPr lang="fr-FR" dirty="0"/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fr-FR" dirty="0" smtClean="0"/>
              <a:t>Développeur </a:t>
            </a:r>
            <a:r>
              <a:rPr lang="fr-FR" dirty="0"/>
              <a:t>web dans…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… la direction des systèmes d’information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xmlns="" id="{A8ECA94E-0B28-46AB-8008-319677BE2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7" y="1275605"/>
            <a:ext cx="8788210" cy="309634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xmlns="" id="{6190D16C-34E4-49C7-A9F6-4AF57713B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63638"/>
            <a:ext cx="7675465" cy="25471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4" name="Rectangle à coins arrondis 13"/>
          <p:cNvSpPr/>
          <p:nvPr/>
        </p:nvSpPr>
        <p:spPr>
          <a:xfrm>
            <a:off x="827584" y="3435846"/>
            <a:ext cx="1296144" cy="2160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2843808" y="3507854"/>
            <a:ext cx="1152128" cy="1440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4716016" y="3435846"/>
            <a:ext cx="1152128" cy="21602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à coins arrondis 17"/>
          <p:cNvSpPr/>
          <p:nvPr/>
        </p:nvSpPr>
        <p:spPr>
          <a:xfrm>
            <a:off x="3779912" y="2499742"/>
            <a:ext cx="1224136" cy="1440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6732240" y="3507854"/>
            <a:ext cx="1080120" cy="14401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026421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Développeur </a:t>
            </a:r>
            <a:r>
              <a:rPr lang="fr-FR" dirty="0"/>
              <a:t>web Dans…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smtClean="0"/>
              <a:t/>
            </a:r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xmlns="" id="{CDE58D6A-30EF-4016-B3F1-1A250C19172E}"/>
              </a:ext>
            </a:extLst>
          </p:cNvPr>
          <p:cNvSpPr txBox="1">
            <a:spLocks/>
          </p:cNvSpPr>
          <p:nvPr/>
        </p:nvSpPr>
        <p:spPr bwMode="gray">
          <a:xfrm>
            <a:off x="539751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Equipe :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Manager et Chef de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Projet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2 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Chefs de Projet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3 Alternants</a:t>
            </a:r>
          </a:p>
          <a:p>
            <a:pPr marL="0" lvl="2" indent="0">
              <a:buClr>
                <a:srgbClr val="009AA6"/>
              </a:buClr>
              <a:buNone/>
              <a:defRPr/>
            </a:pPr>
            <a:endParaRPr lang="fr-FR" dirty="0"/>
          </a:p>
          <a:p>
            <a:r>
              <a:rPr lang="fr-FR" dirty="0"/>
              <a:t>Logiciel COM’ING (classique) :</a:t>
            </a:r>
          </a:p>
          <a:p>
            <a:pPr lvl="2"/>
            <a:r>
              <a:rPr lang="fr-FR" dirty="0"/>
              <a:t>Client lourd (JAVA, MAVEN, Spring)</a:t>
            </a:r>
          </a:p>
          <a:p>
            <a:pPr lvl="2"/>
            <a:r>
              <a:rPr lang="fr-FR" dirty="0"/>
              <a:t>Fait le lien entre le Pôle Commerciale (gestion des clients) et le Pôle Ingénierie (chargé de la production)</a:t>
            </a:r>
          </a:p>
          <a:p>
            <a:pPr lvl="2"/>
            <a:r>
              <a:rPr lang="fr-FR" dirty="0"/>
              <a:t>En voie de décommissionnement</a:t>
            </a:r>
          </a:p>
          <a:p>
            <a:pPr lvl="2">
              <a:buClr>
                <a:srgbClr val="009AA6"/>
              </a:buClr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lvl="2">
              <a:buClr>
                <a:srgbClr val="009AA6"/>
              </a:buClr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marL="0" lvl="2" indent="0">
              <a:buFont typeface="Avenir LT Std 65 Medium" pitchFamily="34" charset="0"/>
              <a:buNone/>
            </a:pPr>
            <a:endParaRPr lang="fr-FR" dirty="0"/>
          </a:p>
        </p:txBody>
      </p:sp>
      <p:sp>
        <p:nvSpPr>
          <p:cNvPr id="13" name="Espace réservé du contenu 6">
            <a:extLst>
              <a:ext uri="{FF2B5EF4-FFF2-40B4-BE49-F238E27FC236}">
                <a16:creationId xmlns:a16="http://schemas.microsoft.com/office/drawing/2014/main" xmlns="" id="{AA38A4B9-A96D-458C-97EA-FD84C5D13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886" y="1743074"/>
            <a:ext cx="3816225" cy="2736851"/>
          </a:xfrm>
        </p:spPr>
        <p:txBody>
          <a:bodyPr>
            <a:normAutofit/>
          </a:bodyPr>
          <a:lstStyle/>
          <a:p>
            <a:r>
              <a:rPr lang="fr-FR" dirty="0"/>
              <a:t>Missions :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rgbClr val="3C3732"/>
                </a:solidFill>
                <a:effectLst/>
                <a:uLnTx/>
                <a:uFillTx/>
                <a:latin typeface="Avenir LT Std 45 Book"/>
                <a:ea typeface="+mn-ea"/>
                <a:cs typeface="+mn-cs"/>
              </a:rPr>
              <a:t>Concevoir un plan de transport fiable et précis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Dimensionner les ressources à utiliser</a:t>
            </a: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Gérer les applications COM’ING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None/>
              <a:tabLst/>
              <a:defRPr/>
            </a:pPr>
            <a:endParaRPr lang="fr-FR" dirty="0"/>
          </a:p>
          <a:p>
            <a:r>
              <a:rPr lang="fr-FR" dirty="0"/>
              <a:t>Application COM’ING WEB :</a:t>
            </a:r>
          </a:p>
          <a:p>
            <a:pPr lvl="2"/>
            <a:r>
              <a:rPr lang="fr-FR" dirty="0"/>
              <a:t>Application Web (Angular, MAVEN, Spring)</a:t>
            </a:r>
          </a:p>
          <a:p>
            <a:pPr lvl="2"/>
            <a:r>
              <a:rPr lang="fr-FR" dirty="0"/>
              <a:t>Couvre une partie du périmètre du client lourd</a:t>
            </a:r>
          </a:p>
          <a:p>
            <a:pPr lvl="2"/>
            <a:r>
              <a:rPr lang="fr-FR" dirty="0"/>
              <a:t>Gère l’Activité </a:t>
            </a:r>
            <a:r>
              <a:rPr lang="fr-FR" dirty="0" smtClean="0"/>
              <a:t>Commerciale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0022866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Développeur </a:t>
            </a:r>
            <a:r>
              <a:rPr lang="fr-FR" dirty="0"/>
              <a:t>web Dans…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… le domaine ingénierie et gestion de capacité du pôle solution SI métier</a:t>
            </a:r>
          </a:p>
          <a:p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u contenu 6">
            <a:extLst>
              <a:ext uri="{FF2B5EF4-FFF2-40B4-BE49-F238E27FC236}">
                <a16:creationId xmlns:a16="http://schemas.microsoft.com/office/drawing/2014/main" xmlns="" id="{CDE58D6A-30EF-4016-B3F1-1A250C19172E}"/>
              </a:ext>
            </a:extLst>
          </p:cNvPr>
          <p:cNvSpPr txBox="1">
            <a:spLocks/>
          </p:cNvSpPr>
          <p:nvPr/>
        </p:nvSpPr>
        <p:spPr bwMode="gray">
          <a:xfrm>
            <a:off x="539751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Mon périmètre d’activité :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Développer les fonctionnalités de l’Application COM’ING Web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Intervenir la base de données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Offrir une expertise technique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Aider dans des missions d’AMOA</a:t>
            </a:r>
          </a:p>
          <a:p>
            <a:pPr lvl="2">
              <a:buClr>
                <a:srgbClr val="009AA6"/>
              </a:buClr>
              <a:defRPr/>
            </a:pPr>
            <a:endParaRPr lang="fr-FR" dirty="0"/>
          </a:p>
          <a:p>
            <a:r>
              <a:rPr lang="fr-FR" dirty="0"/>
              <a:t>Qualité du code produit :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Assurée par des tests unitaires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Assurée par les Responsables Techniques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Assurée par des tests fonctionnels</a:t>
            </a:r>
          </a:p>
          <a:p>
            <a:pPr marL="0" lvl="2" indent="0">
              <a:buFont typeface="Avenir LT Std 65 Medium" pitchFamily="34" charset="0"/>
              <a:buNone/>
            </a:pPr>
            <a:endParaRPr lang="fr-FR" dirty="0"/>
          </a:p>
        </p:txBody>
      </p:sp>
      <p:sp>
        <p:nvSpPr>
          <p:cNvPr id="13" name="Espace réservé du contenu 6">
            <a:extLst>
              <a:ext uri="{FF2B5EF4-FFF2-40B4-BE49-F238E27FC236}">
                <a16:creationId xmlns:a16="http://schemas.microsoft.com/office/drawing/2014/main" xmlns="" id="{AA38A4B9-A96D-458C-97EA-FD84C5D13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886" y="1743074"/>
            <a:ext cx="3816225" cy="2736851"/>
          </a:xfrm>
        </p:spPr>
        <p:txBody>
          <a:bodyPr>
            <a:normAutofit/>
          </a:bodyPr>
          <a:lstStyle/>
          <a:p>
            <a:r>
              <a:rPr lang="fr-FR" dirty="0"/>
              <a:t>Développement : </a:t>
            </a:r>
          </a:p>
          <a:p>
            <a:pPr lvl="2"/>
            <a:r>
              <a:rPr lang="fr-FR" dirty="0"/>
              <a:t>Technologie du web utilisée : </a:t>
            </a:r>
          </a:p>
          <a:p>
            <a:pPr lvl="3"/>
            <a:r>
              <a:rPr lang="fr-FR" dirty="0"/>
              <a:t>Angular (Javascript/TypeScript)</a:t>
            </a:r>
          </a:p>
          <a:p>
            <a:pPr lvl="3"/>
            <a:r>
              <a:rPr lang="fr-FR" dirty="0"/>
              <a:t>Java (Spring, MAVEN),</a:t>
            </a:r>
          </a:p>
          <a:p>
            <a:pPr lvl="3"/>
            <a:r>
              <a:rPr lang="fr-FR" dirty="0"/>
              <a:t>OpenAPI (Swagger)</a:t>
            </a:r>
          </a:p>
          <a:p>
            <a:pPr lvl="3"/>
            <a:r>
              <a:rPr lang="fr-FR" dirty="0"/>
              <a:t>PosgreSQL</a:t>
            </a:r>
          </a:p>
          <a:p>
            <a:pPr lvl="3"/>
            <a:r>
              <a:rPr lang="fr-FR" dirty="0"/>
              <a:t>PGAdmin/Interface CLI</a:t>
            </a:r>
          </a:p>
          <a:p>
            <a:pPr lvl="3"/>
            <a:endParaRPr lang="fr-FR" dirty="0"/>
          </a:p>
          <a:p>
            <a:pPr lvl="2"/>
            <a:r>
              <a:rPr lang="fr-FR" dirty="0"/>
              <a:t>Projet Agile utilisant : </a:t>
            </a:r>
          </a:p>
          <a:p>
            <a:pPr lvl="3"/>
            <a:r>
              <a:rPr lang="fr-FR" dirty="0"/>
              <a:t>JIRA</a:t>
            </a:r>
          </a:p>
          <a:p>
            <a:pPr lvl="3"/>
            <a:r>
              <a:rPr lang="fr-FR" dirty="0"/>
              <a:t>Git (GitLab)</a:t>
            </a:r>
          </a:p>
          <a:p>
            <a:pPr lvl="3"/>
            <a:r>
              <a:rPr lang="fr-FR" dirty="0"/>
              <a:t>VS Code</a:t>
            </a:r>
          </a:p>
          <a:p>
            <a:pPr lvl="3"/>
            <a:r>
              <a:rPr lang="fr-FR" dirty="0"/>
              <a:t>Spring Tool Suite</a:t>
            </a:r>
          </a:p>
          <a:p>
            <a:pPr marL="0" lvl="2" indent="0">
              <a:buNone/>
            </a:pPr>
            <a:endParaRPr lang="fr-FR" dirty="0"/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pPr marL="144000" marR="0" lvl="2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9AA6"/>
              </a:buClr>
              <a:buSzPct val="100000"/>
              <a:buFont typeface="Avenir LT Std 65 Medium" pitchFamily="34" charset="0"/>
              <a:buChar char="+"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3C3732"/>
              </a:solidFill>
              <a:effectLst/>
              <a:uLnTx/>
              <a:uFillTx/>
              <a:latin typeface="Avenir LT Std 45 Book"/>
              <a:ea typeface="+mn-ea"/>
              <a:cs typeface="+mn-cs"/>
            </a:endParaRPr>
          </a:p>
          <a:p>
            <a:pPr marL="0" lvl="2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513093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fr-FR" dirty="0" smtClean="0"/>
              <a:t>Processus </a:t>
            </a:r>
            <a:r>
              <a:rPr lang="fr-FR" dirty="0"/>
              <a:t>de développement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Acteurs, rôles et interactions</a:t>
            </a:r>
          </a:p>
          <a:p>
            <a:r>
              <a:rPr lang="fr-FR" dirty="0"/>
              <a:t>Développement type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C460-605C-46BB-B379-44F8252B29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B5493F0D-316C-4241-B868-478BF1BD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5789090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50E5F36A-20C6-45A0-B5C0-ECD66584923C}"/>
              </a:ext>
            </a:extLst>
          </p:cNvPr>
          <p:cNvSpPr txBox="1"/>
          <p:nvPr/>
        </p:nvSpPr>
        <p:spPr>
          <a:xfrm>
            <a:off x="3416458" y="4096185"/>
            <a:ext cx="1800002" cy="30777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ITNovem &amp; DOSN</a:t>
            </a:r>
          </a:p>
        </p:txBody>
      </p:sp>
      <p:sp>
        <p:nvSpPr>
          <p:cNvPr id="16" name="Titr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dirty="0"/>
              <a:t>Processus de développement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Acteurs, rôles et interactions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4"/>
          </p:nvPr>
        </p:nvSpPr>
        <p:spPr>
          <a:xfrm>
            <a:off x="3418165" y="3664185"/>
            <a:ext cx="1798295" cy="432000"/>
          </a:xfrm>
        </p:spPr>
        <p:txBody>
          <a:bodyPr/>
          <a:lstStyle/>
          <a:p>
            <a:pPr algn="ctr"/>
            <a:r>
              <a:rPr lang="fr-FR" sz="1800" b="1" dirty="0"/>
              <a:t>Exploitants</a:t>
            </a:r>
            <a:endParaRPr lang="fr-FR" sz="180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6DE-5598-43FE-BB0D-DF5B0D2D4DB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sp>
        <p:nvSpPr>
          <p:cNvPr id="27" name="Espace réservé du texte 17">
            <a:extLst>
              <a:ext uri="{FF2B5EF4-FFF2-40B4-BE49-F238E27FC236}">
                <a16:creationId xmlns:a16="http://schemas.microsoft.com/office/drawing/2014/main" xmlns="" id="{CF6AD629-3415-471A-97AB-200DBB690F74}"/>
              </a:ext>
            </a:extLst>
          </p:cNvPr>
          <p:cNvSpPr txBox="1">
            <a:spLocks/>
          </p:cNvSpPr>
          <p:nvPr/>
        </p:nvSpPr>
        <p:spPr bwMode="gray">
          <a:xfrm>
            <a:off x="683568" y="2112060"/>
            <a:ext cx="1800002" cy="432000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b="1" dirty="0"/>
              <a:t>Métier</a:t>
            </a:r>
            <a:endParaRPr lang="fr-FR" sz="1800" dirty="0"/>
          </a:p>
        </p:txBody>
      </p:sp>
      <p:sp>
        <p:nvSpPr>
          <p:cNvPr id="7" name="Espace réservé du texte 17">
            <a:extLst>
              <a:ext uri="{FF2B5EF4-FFF2-40B4-BE49-F238E27FC236}">
                <a16:creationId xmlns:a16="http://schemas.microsoft.com/office/drawing/2014/main" xmlns="" id="{C212D3BB-7AC0-43FA-856C-E4A51C66BC79}"/>
              </a:ext>
            </a:extLst>
          </p:cNvPr>
          <p:cNvSpPr txBox="1">
            <a:spLocks/>
          </p:cNvSpPr>
          <p:nvPr/>
        </p:nvSpPr>
        <p:spPr bwMode="gray">
          <a:xfrm>
            <a:off x="6155649" y="2115234"/>
            <a:ext cx="1800002" cy="432000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b="1" dirty="0"/>
              <a:t>Maître d’</a:t>
            </a:r>
            <a:r>
              <a:rPr lang="fr-FR" sz="1400" b="1" dirty="0" err="1"/>
              <a:t>oeuvre</a:t>
            </a:r>
            <a:endParaRPr lang="fr-FR" sz="1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6E86D7AF-D31B-457E-A218-53EC3417437C}"/>
              </a:ext>
            </a:extLst>
          </p:cNvPr>
          <p:cNvSpPr txBox="1"/>
          <p:nvPr/>
        </p:nvSpPr>
        <p:spPr>
          <a:xfrm>
            <a:off x="683568" y="2544060"/>
            <a:ext cx="1800002" cy="83099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Pôle Ingénierie et Conception de la Direction Métier Process et Projets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255A5E5B-2361-485B-834A-39A587D15AF4}"/>
              </a:ext>
            </a:extLst>
          </p:cNvPr>
          <p:cNvSpPr txBox="1"/>
          <p:nvPr/>
        </p:nvSpPr>
        <p:spPr>
          <a:xfrm>
            <a:off x="6155648" y="2547234"/>
            <a:ext cx="1800001" cy="30777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Capgemini France 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xmlns="" id="{10B88384-9D6F-45A8-8A34-A6E4F94D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xmlns="" id="{59C98756-52C3-4CB0-9D69-B719C6D3A6D8}"/>
              </a:ext>
            </a:extLst>
          </p:cNvPr>
          <p:cNvSpPr txBox="1"/>
          <p:nvPr/>
        </p:nvSpPr>
        <p:spPr>
          <a:xfrm>
            <a:off x="3419872" y="1419622"/>
            <a:ext cx="1801709" cy="52322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Domaine Ingénierie et Gestion de Capacité</a:t>
            </a:r>
          </a:p>
        </p:txBody>
      </p:sp>
      <p:sp>
        <p:nvSpPr>
          <p:cNvPr id="37" name="Espace réservé du texte 17">
            <a:extLst>
              <a:ext uri="{FF2B5EF4-FFF2-40B4-BE49-F238E27FC236}">
                <a16:creationId xmlns:a16="http://schemas.microsoft.com/office/drawing/2014/main" xmlns="" id="{30059C8D-E960-48FA-8992-648BF86DD5C5}"/>
              </a:ext>
            </a:extLst>
          </p:cNvPr>
          <p:cNvSpPr txBox="1">
            <a:spLocks/>
          </p:cNvSpPr>
          <p:nvPr/>
        </p:nvSpPr>
        <p:spPr bwMode="gray">
          <a:xfrm>
            <a:off x="3416458" y="1005581"/>
            <a:ext cx="1803416" cy="432000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 b="1" dirty="0"/>
              <a:t>Maître d’ouvrage</a:t>
            </a:r>
            <a:endParaRPr lang="fr-FR" sz="1400" dirty="0"/>
          </a:p>
        </p:txBody>
      </p: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xmlns="" id="{F19477F2-052E-4DCA-845C-A062BC637F8B}"/>
              </a:ext>
            </a:extLst>
          </p:cNvPr>
          <p:cNvCxnSpPr>
            <a:cxnSpLocks/>
            <a:stCxn id="37" idx="3"/>
            <a:endCxn id="7" idx="0"/>
          </p:cNvCxnSpPr>
          <p:nvPr/>
        </p:nvCxnSpPr>
        <p:spPr>
          <a:xfrm>
            <a:off x="5219874" y="1221581"/>
            <a:ext cx="1835776" cy="89365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rc 46">
            <a:extLst>
              <a:ext uri="{FF2B5EF4-FFF2-40B4-BE49-F238E27FC236}">
                <a16:creationId xmlns:a16="http://schemas.microsoft.com/office/drawing/2014/main" xmlns="" id="{00C63B81-1253-429C-8889-16286C45F153}"/>
              </a:ext>
            </a:extLst>
          </p:cNvPr>
          <p:cNvCxnSpPr>
            <a:cxnSpLocks/>
          </p:cNvCxnSpPr>
          <p:nvPr/>
        </p:nvCxnSpPr>
        <p:spPr>
          <a:xfrm rot="5400000">
            <a:off x="5623468" y="2448005"/>
            <a:ext cx="1025174" cy="18391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Connecteur : en arc 55">
            <a:extLst>
              <a:ext uri="{FF2B5EF4-FFF2-40B4-BE49-F238E27FC236}">
                <a16:creationId xmlns:a16="http://schemas.microsoft.com/office/drawing/2014/main" xmlns="" id="{AB6E67E1-DEC9-4BEC-BD74-50C775271900}"/>
              </a:ext>
            </a:extLst>
          </p:cNvPr>
          <p:cNvCxnSpPr>
            <a:cxnSpLocks/>
            <a:stCxn id="27" idx="0"/>
            <a:endCxn id="37" idx="1"/>
          </p:cNvCxnSpPr>
          <p:nvPr/>
        </p:nvCxnSpPr>
        <p:spPr>
          <a:xfrm rot="5400000" flipH="1" flipV="1">
            <a:off x="2054774" y="750377"/>
            <a:ext cx="890479" cy="18328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xmlns="" id="{B91468C0-01EC-4729-8D9E-2DC0E9E57F78}"/>
              </a:ext>
            </a:extLst>
          </p:cNvPr>
          <p:cNvCxnSpPr>
            <a:stCxn id="36" idx="3"/>
            <a:endCxn id="7" idx="1"/>
          </p:cNvCxnSpPr>
          <p:nvPr/>
        </p:nvCxnSpPr>
        <p:spPr>
          <a:xfrm>
            <a:off x="5221581" y="1681232"/>
            <a:ext cx="934068" cy="6500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xmlns="" id="{FB0E2C6F-B9A5-4354-ACEE-1D2035AF38B4}"/>
              </a:ext>
            </a:extLst>
          </p:cNvPr>
          <p:cNvCxnSpPr>
            <a:cxnSpLocks/>
            <a:stCxn id="27" idx="3"/>
            <a:endCxn id="36" idx="1"/>
          </p:cNvCxnSpPr>
          <p:nvPr/>
        </p:nvCxnSpPr>
        <p:spPr>
          <a:xfrm flipV="1">
            <a:off x="2483570" y="1681232"/>
            <a:ext cx="936302" cy="6468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xmlns="" id="{9BF5956E-4541-49F5-9A83-01C81789885B}"/>
              </a:ext>
            </a:extLst>
          </p:cNvPr>
          <p:cNvSpPr txBox="1"/>
          <p:nvPr/>
        </p:nvSpPr>
        <p:spPr>
          <a:xfrm>
            <a:off x="541457" y="1435625"/>
            <a:ext cx="14762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Expression de besoins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xmlns="" id="{4CBFFD42-FC3B-4C7B-85FD-B46D243E080C}"/>
              </a:ext>
            </a:extLst>
          </p:cNvPr>
          <p:cNvSpPr txBox="1"/>
          <p:nvPr/>
        </p:nvSpPr>
        <p:spPr>
          <a:xfrm>
            <a:off x="6043339" y="1230257"/>
            <a:ext cx="2345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Transmission de spécifications fonctionnelles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xmlns="" id="{44520CE4-055A-400F-A0E3-6BFE97FC67F8}"/>
              </a:ext>
            </a:extLst>
          </p:cNvPr>
          <p:cNvSpPr txBox="1"/>
          <p:nvPr/>
        </p:nvSpPr>
        <p:spPr>
          <a:xfrm>
            <a:off x="6665456" y="3378659"/>
            <a:ext cx="14762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Mise à jour d’un serveur ou de la base de données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xmlns="" id="{3614D4E7-CD46-4D20-A3C5-64EE64CDDA00}"/>
              </a:ext>
            </a:extLst>
          </p:cNvPr>
          <p:cNvSpPr txBox="1"/>
          <p:nvPr/>
        </p:nvSpPr>
        <p:spPr>
          <a:xfrm>
            <a:off x="5076056" y="1952195"/>
            <a:ext cx="1476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Tests fonctionnels et retours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xmlns="" id="{90C09617-370E-48D1-BDD2-9AD639955E53}"/>
              </a:ext>
            </a:extLst>
          </p:cNvPr>
          <p:cNvSpPr txBox="1"/>
          <p:nvPr/>
        </p:nvSpPr>
        <p:spPr>
          <a:xfrm>
            <a:off x="2135331" y="1905903"/>
            <a:ext cx="1476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Tests métiers et retours</a:t>
            </a:r>
          </a:p>
        </p:txBody>
      </p:sp>
      <p:cxnSp>
        <p:nvCxnSpPr>
          <p:cNvPr id="123" name="Connecteur droit avec flèche 122">
            <a:extLst>
              <a:ext uri="{FF2B5EF4-FFF2-40B4-BE49-F238E27FC236}">
                <a16:creationId xmlns:a16="http://schemas.microsoft.com/office/drawing/2014/main" xmlns="" id="{95AC8B8D-08C0-4C61-A013-15D6960C4D1A}"/>
              </a:ext>
            </a:extLst>
          </p:cNvPr>
          <p:cNvCxnSpPr>
            <a:stCxn id="36" idx="2"/>
            <a:endCxn id="18" idx="0"/>
          </p:cNvCxnSpPr>
          <p:nvPr/>
        </p:nvCxnSpPr>
        <p:spPr>
          <a:xfrm flipH="1">
            <a:off x="4317313" y="1942842"/>
            <a:ext cx="3414" cy="17213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5" name="ZoneTexte 124">
            <a:extLst>
              <a:ext uri="{FF2B5EF4-FFF2-40B4-BE49-F238E27FC236}">
                <a16:creationId xmlns:a16="http://schemas.microsoft.com/office/drawing/2014/main" xmlns="" id="{FDE3870D-C60A-4A66-974F-1341DAC09DCC}"/>
              </a:ext>
            </a:extLst>
          </p:cNvPr>
          <p:cNvSpPr txBox="1"/>
          <p:nvPr/>
        </p:nvSpPr>
        <p:spPr>
          <a:xfrm>
            <a:off x="3611594" y="3349625"/>
            <a:ext cx="1476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/>
              <a:t>Demande de logs et retours</a:t>
            </a:r>
          </a:p>
        </p:txBody>
      </p:sp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Processus </a:t>
            </a:r>
            <a:r>
              <a:rPr lang="fr-FR" dirty="0"/>
              <a:t>de développement</a:t>
            </a:r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Développement type</a:t>
            </a:r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>
          <a:xfrm>
            <a:off x="-324544" y="4803998"/>
            <a:ext cx="7669213" cy="162000"/>
          </a:xfrm>
        </p:spPr>
        <p:txBody>
          <a:bodyPr/>
          <a:lstStyle/>
          <a:p>
            <a:fld id="{3C2936DE-5598-43FE-BB0D-DF5B0D2D4DB1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xmlns="" id="{10B88384-9D6F-45A8-8A34-A6E4F94D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texte 17">
            <a:extLst>
              <a:ext uri="{FF2B5EF4-FFF2-40B4-BE49-F238E27FC236}">
                <a16:creationId xmlns:a16="http://schemas.microsoft.com/office/drawing/2014/main" xmlns="" id="{43822E2C-20F2-44A3-B503-1CED625CC682}"/>
              </a:ext>
            </a:extLst>
          </p:cNvPr>
          <p:cNvSpPr txBox="1">
            <a:spLocks/>
          </p:cNvSpPr>
          <p:nvPr/>
        </p:nvSpPr>
        <p:spPr bwMode="gray">
          <a:xfrm>
            <a:off x="539749" y="1536800"/>
            <a:ext cx="1667529" cy="962942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b="1" dirty="0"/>
              <a:t>Attribution de mission</a:t>
            </a:r>
            <a:endParaRPr lang="fr-FR" sz="1000" dirty="0"/>
          </a:p>
        </p:txBody>
      </p:sp>
      <p:sp>
        <p:nvSpPr>
          <p:cNvPr id="5" name="Espace réservé du texte 17">
            <a:extLst>
              <a:ext uri="{FF2B5EF4-FFF2-40B4-BE49-F238E27FC236}">
                <a16:creationId xmlns:a16="http://schemas.microsoft.com/office/drawing/2014/main" xmlns="" id="{37BFFD54-5073-4BC3-9934-10177DA5E2E3}"/>
              </a:ext>
            </a:extLst>
          </p:cNvPr>
          <p:cNvSpPr txBox="1">
            <a:spLocks/>
          </p:cNvSpPr>
          <p:nvPr/>
        </p:nvSpPr>
        <p:spPr bwMode="gray">
          <a:xfrm>
            <a:off x="2574354" y="1536800"/>
            <a:ext cx="1667528" cy="962942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b="1" dirty="0"/>
              <a:t>Développement &amp; Documentation</a:t>
            </a:r>
            <a:endParaRPr lang="fr-FR" sz="1000" dirty="0"/>
          </a:p>
        </p:txBody>
      </p:sp>
      <p:sp>
        <p:nvSpPr>
          <p:cNvPr id="11" name="Espace réservé du texte 17">
            <a:extLst>
              <a:ext uri="{FF2B5EF4-FFF2-40B4-BE49-F238E27FC236}">
                <a16:creationId xmlns:a16="http://schemas.microsoft.com/office/drawing/2014/main" xmlns="" id="{02C0A47B-A714-4172-B9D0-CAA7FCD15B81}"/>
              </a:ext>
            </a:extLst>
          </p:cNvPr>
          <p:cNvSpPr txBox="1">
            <a:spLocks/>
          </p:cNvSpPr>
          <p:nvPr/>
        </p:nvSpPr>
        <p:spPr bwMode="gray">
          <a:xfrm>
            <a:off x="4608202" y="1536800"/>
            <a:ext cx="1667529" cy="962942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b="1" dirty="0"/>
              <a:t>Vérification par les responsables techniques</a:t>
            </a:r>
            <a:endParaRPr lang="fr-FR" sz="1000" dirty="0"/>
          </a:p>
        </p:txBody>
      </p:sp>
      <p:sp>
        <p:nvSpPr>
          <p:cNvPr id="20" name="Espace réservé du texte 17">
            <a:extLst>
              <a:ext uri="{FF2B5EF4-FFF2-40B4-BE49-F238E27FC236}">
                <a16:creationId xmlns:a16="http://schemas.microsoft.com/office/drawing/2014/main" xmlns="" id="{B81F47F9-D7ED-4598-86A8-5BBFA62CB5F9}"/>
              </a:ext>
            </a:extLst>
          </p:cNvPr>
          <p:cNvSpPr txBox="1">
            <a:spLocks/>
          </p:cNvSpPr>
          <p:nvPr/>
        </p:nvSpPr>
        <p:spPr bwMode="gray">
          <a:xfrm>
            <a:off x="6642051" y="1536800"/>
            <a:ext cx="1667529" cy="962942"/>
          </a:xfrm>
          <a:prstGeom prst="rect">
            <a:avLst/>
          </a:prstGeom>
          <a:solidFill>
            <a:schemeClr val="accent1"/>
          </a:solidFill>
        </p:spPr>
        <p:txBody>
          <a:bodyPr vert="horz" lIns="144000" tIns="72000" rIns="72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2000" b="0" kern="1200" cap="all" baseline="0">
                <a:solidFill>
                  <a:schemeClr val="bg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b="1" dirty="0"/>
              <a:t>Livraison Finale</a:t>
            </a:r>
            <a:endParaRPr lang="fr-FR" sz="1000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xmlns="" id="{82EF64DC-9592-49D8-B3E9-4C106582896B}"/>
              </a:ext>
            </a:extLst>
          </p:cNvPr>
          <p:cNvSpPr/>
          <p:nvPr/>
        </p:nvSpPr>
        <p:spPr>
          <a:xfrm>
            <a:off x="2736109" y="2906935"/>
            <a:ext cx="1344017" cy="12856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Demande de précisions possible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xmlns="" id="{20787DF5-00B8-4CF6-8BBF-484B80C4DDD6}"/>
              </a:ext>
            </a:extLst>
          </p:cNvPr>
          <p:cNvSpPr/>
          <p:nvPr/>
        </p:nvSpPr>
        <p:spPr>
          <a:xfrm>
            <a:off x="4644008" y="3075806"/>
            <a:ext cx="1602243" cy="15370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Renvoi en développement si nécessaire</a:t>
            </a:r>
          </a:p>
        </p:txBody>
      </p: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xmlns="" id="{36E90B29-FBFC-4436-8D69-654D00635E12}"/>
              </a:ext>
            </a:extLst>
          </p:cNvPr>
          <p:cNvCxnSpPr>
            <a:cxnSpLocks/>
            <a:stCxn id="11" idx="2"/>
            <a:endCxn id="22" idx="0"/>
          </p:cNvCxnSpPr>
          <p:nvPr/>
        </p:nvCxnSpPr>
        <p:spPr>
          <a:xfrm rot="16200000" flipH="1">
            <a:off x="5155516" y="2786192"/>
            <a:ext cx="576064" cy="316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 : en angle 73">
            <a:extLst>
              <a:ext uri="{FF2B5EF4-FFF2-40B4-BE49-F238E27FC236}">
                <a16:creationId xmlns:a16="http://schemas.microsoft.com/office/drawing/2014/main" xmlns="" id="{B6404CCA-1837-4A17-9294-5D0604225AFD}"/>
              </a:ext>
            </a:extLst>
          </p:cNvPr>
          <p:cNvCxnSpPr>
            <a:cxnSpLocks/>
          </p:cNvCxnSpPr>
          <p:nvPr/>
        </p:nvCxnSpPr>
        <p:spPr>
          <a:xfrm rot="5400000">
            <a:off x="3204518" y="2713204"/>
            <a:ext cx="407193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98994D4A-5E14-4E48-B011-CA08AF1AFEF4}"/>
              </a:ext>
            </a:extLst>
          </p:cNvPr>
          <p:cNvSpPr/>
          <p:nvPr/>
        </p:nvSpPr>
        <p:spPr>
          <a:xfrm>
            <a:off x="4607447" y="1283710"/>
            <a:ext cx="515598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Git</a:t>
            </a:r>
            <a:endParaRPr lang="fr-FR" sz="1050" b="1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120BCB13-8BAA-46C0-8690-8CAB5856B91B}"/>
              </a:ext>
            </a:extLst>
          </p:cNvPr>
          <p:cNvSpPr/>
          <p:nvPr/>
        </p:nvSpPr>
        <p:spPr>
          <a:xfrm>
            <a:off x="6642051" y="1283710"/>
            <a:ext cx="515598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Jira</a:t>
            </a:r>
            <a:endParaRPr lang="fr-FR" sz="1050" b="1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41E5297A-8E3D-40B5-ABC3-7AACC6E7F239}"/>
              </a:ext>
            </a:extLst>
          </p:cNvPr>
          <p:cNvSpPr/>
          <p:nvPr/>
        </p:nvSpPr>
        <p:spPr>
          <a:xfrm>
            <a:off x="7237839" y="1274862"/>
            <a:ext cx="515598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Git</a:t>
            </a:r>
            <a:endParaRPr lang="fr-FR" sz="1050" b="1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xmlns="" id="{0879A7FA-7CC6-4747-930B-7E353A4547D1}"/>
              </a:ext>
            </a:extLst>
          </p:cNvPr>
          <p:cNvSpPr/>
          <p:nvPr/>
        </p:nvSpPr>
        <p:spPr>
          <a:xfrm>
            <a:off x="536976" y="1279469"/>
            <a:ext cx="515598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Jira</a:t>
            </a:r>
            <a:endParaRPr lang="fr-FR" sz="1050" b="1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4549F3F6-A2C5-4C2B-BC7D-D09C301584CC}"/>
              </a:ext>
            </a:extLst>
          </p:cNvPr>
          <p:cNvSpPr/>
          <p:nvPr/>
        </p:nvSpPr>
        <p:spPr>
          <a:xfrm>
            <a:off x="1132764" y="1282222"/>
            <a:ext cx="515598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Git</a:t>
            </a:r>
            <a:endParaRPr lang="fr-FR" sz="1050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CF47FE2B-BBD2-444F-A02F-589C18167EB8}"/>
              </a:ext>
            </a:extLst>
          </p:cNvPr>
          <p:cNvSpPr/>
          <p:nvPr/>
        </p:nvSpPr>
        <p:spPr>
          <a:xfrm>
            <a:off x="3491880" y="1275607"/>
            <a:ext cx="750002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VSCODE</a:t>
            </a:r>
            <a:endParaRPr lang="fr-FR" sz="600" b="1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xmlns="" id="{79F98633-303B-413E-BAC4-9DC49C271379}"/>
              </a:ext>
            </a:extLst>
          </p:cNvPr>
          <p:cNvSpPr/>
          <p:nvPr/>
        </p:nvSpPr>
        <p:spPr>
          <a:xfrm>
            <a:off x="2573598" y="1274862"/>
            <a:ext cx="834516" cy="261194"/>
          </a:xfrm>
          <a:prstGeom prst="rect">
            <a:avLst/>
          </a:prstGeom>
          <a:solidFill>
            <a:srgbClr val="0088C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Angular, Spring</a:t>
            </a:r>
            <a:endParaRPr lang="fr-FR" sz="700" b="1" dirty="0"/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xmlns="" id="{6C71155A-6785-4F7A-9CCA-DC91FB1954B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207278" y="2018271"/>
            <a:ext cx="36707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2" name="Connecteur droit avec flèche 101">
            <a:extLst>
              <a:ext uri="{FF2B5EF4-FFF2-40B4-BE49-F238E27FC236}">
                <a16:creationId xmlns:a16="http://schemas.microsoft.com/office/drawing/2014/main" xmlns="" id="{E63844A6-90CF-44BF-8C8A-BC916D2F1930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41882" y="2018271"/>
            <a:ext cx="3663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xmlns="" id="{2350A140-975C-4094-BB73-95C86F6F5499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6275731" y="2018271"/>
            <a:ext cx="3663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7" name="Connecteur : en arc 96">
            <a:extLst>
              <a:ext uri="{FF2B5EF4-FFF2-40B4-BE49-F238E27FC236}">
                <a16:creationId xmlns:a16="http://schemas.microsoft.com/office/drawing/2014/main" xmlns="" id="{4BB9C752-5698-4F2C-872F-AF2D102DCAF6}"/>
              </a:ext>
            </a:extLst>
          </p:cNvPr>
          <p:cNvCxnSpPr>
            <a:stCxn id="22" idx="1"/>
            <a:endCxn id="5" idx="2"/>
          </p:cNvCxnSpPr>
          <p:nvPr/>
        </p:nvCxnSpPr>
        <p:spPr>
          <a:xfrm rot="16200000" flipV="1">
            <a:off x="3742807" y="2165053"/>
            <a:ext cx="801156" cy="14705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630208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fr-FR" dirty="0" smtClean="0"/>
              <a:t>bilan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Challenges rencontrés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C460-605C-46BB-B379-44F8252B295D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>
              <a:lnSpc>
                <a:spcPct val="90000"/>
              </a:lnSpc>
            </a:pPr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B5493F0D-316C-4241-B868-478BF1BD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413331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Bilan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Challenges rencontrés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Espace réservé du contenu 6">
            <a:extLst>
              <a:ext uri="{FF2B5EF4-FFF2-40B4-BE49-F238E27FC236}">
                <a16:creationId xmlns:a16="http://schemas.microsoft.com/office/drawing/2014/main" xmlns="" id="{A690F153-C959-48EC-9D00-38982D66E617}"/>
              </a:ext>
            </a:extLst>
          </p:cNvPr>
          <p:cNvSpPr txBox="1">
            <a:spLocks/>
          </p:cNvSpPr>
          <p:nvPr/>
        </p:nvSpPr>
        <p:spPr bwMode="gray">
          <a:xfrm>
            <a:off x="539751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Concepts Métiers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S’adapter à la complexité des concepts métiers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Comprendre et participer à une discussion traitant de besoin métier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Mettre en pratique les différents processus utilisés durant les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missions</a:t>
            </a:r>
            <a:endParaRPr lang="fr-FR" dirty="0"/>
          </a:p>
        </p:txBody>
      </p:sp>
      <p:sp>
        <p:nvSpPr>
          <p:cNvPr id="43" name="Espace réservé du contenu 6">
            <a:extLst>
              <a:ext uri="{FF2B5EF4-FFF2-40B4-BE49-F238E27FC236}">
                <a16:creationId xmlns:a16="http://schemas.microsoft.com/office/drawing/2014/main" xmlns="" id="{DDF0FD23-350A-4B7B-AC23-42F5B6CD7E28}"/>
              </a:ext>
            </a:extLst>
          </p:cNvPr>
          <p:cNvSpPr txBox="1">
            <a:spLocks/>
          </p:cNvSpPr>
          <p:nvPr/>
        </p:nvSpPr>
        <p:spPr bwMode="gray">
          <a:xfrm>
            <a:off x="4789316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Pandémie &amp; Confinement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Impossibilité de se rendre sur les lieux de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travail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S’adapter 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au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télétravail</a:t>
            </a: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r>
              <a:rPr lang="fr-FR" dirty="0"/>
              <a:t>Déconfinement à maintenant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Impossibilité pour les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stagiaires  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de retourner sur les lieux de travail (directive de la Direction)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Télétravail et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3745844983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Bilan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874D-E95E-4062-A11E-E2FA125BDF77}" type="datetime2">
              <a:rPr lang="fr-FR" smtClean="0"/>
              <a:pPr/>
              <a:t>jeudi 8 avril 21</a:t>
            </a:fld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lang="fr-FR" dirty="0"/>
              <a:t>FRET SNCF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07AC9663-090A-4AF4-A804-5B606D3C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Espace réservé du contenu 6">
            <a:extLst>
              <a:ext uri="{FF2B5EF4-FFF2-40B4-BE49-F238E27FC236}">
                <a16:creationId xmlns:a16="http://schemas.microsoft.com/office/drawing/2014/main" xmlns="" id="{A690F153-C959-48EC-9D00-38982D66E617}"/>
              </a:ext>
            </a:extLst>
          </p:cNvPr>
          <p:cNvSpPr txBox="1">
            <a:spLocks/>
          </p:cNvSpPr>
          <p:nvPr/>
        </p:nvSpPr>
        <p:spPr bwMode="gray">
          <a:xfrm>
            <a:off x="539751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Axes de progrès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Compréhension des choix techniques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Gestion des délais de livraison</a:t>
            </a:r>
          </a:p>
          <a:p>
            <a:pPr marL="0" lvl="2" indent="0">
              <a:buClr>
                <a:srgbClr val="009AA6"/>
              </a:buClr>
              <a:buNone/>
              <a:defRPr/>
            </a:pPr>
            <a:endParaRPr lang="fr-FR" dirty="0">
              <a:solidFill>
                <a:srgbClr val="3C3732"/>
              </a:solidFill>
              <a:latin typeface="Avenir LT Std 45 Book"/>
            </a:endParaRPr>
          </a:p>
          <a:p>
            <a:r>
              <a:rPr lang="fr-FR" dirty="0"/>
              <a:t>Progression notable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Compétences relationnelles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Compétences techniques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Compétences fonctionnelles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Adaptation au télétravail</a:t>
            </a:r>
          </a:p>
        </p:txBody>
      </p:sp>
      <p:sp>
        <p:nvSpPr>
          <p:cNvPr id="43" name="Espace réservé du contenu 6">
            <a:extLst>
              <a:ext uri="{FF2B5EF4-FFF2-40B4-BE49-F238E27FC236}">
                <a16:creationId xmlns:a16="http://schemas.microsoft.com/office/drawing/2014/main" xmlns="" id="{DDF0FD23-350A-4B7B-AC23-42F5B6CD7E28}"/>
              </a:ext>
            </a:extLst>
          </p:cNvPr>
          <p:cNvSpPr txBox="1">
            <a:spLocks/>
          </p:cNvSpPr>
          <p:nvPr/>
        </p:nvSpPr>
        <p:spPr bwMode="gray">
          <a:xfrm>
            <a:off x="4789316" y="1743074"/>
            <a:ext cx="3816225" cy="273685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b="1" kern="1200">
                <a:solidFill>
                  <a:schemeClr val="accent1"/>
                </a:solidFill>
                <a:latin typeface="Avenir LT Std 65 Medium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000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venir LT Std 65 Medium" pitchFamily="34" charset="0"/>
              <a:buChar char="+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6000" indent="-72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75000"/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100000"/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Avenir</a:t>
            </a:r>
          </a:p>
          <a:p>
            <a:pPr lvl="2">
              <a:buClr>
                <a:srgbClr val="009AA6"/>
              </a:buClr>
              <a:defRPr/>
            </a:pPr>
            <a:r>
              <a:rPr lang="fr-FR" dirty="0">
                <a:solidFill>
                  <a:srgbClr val="3C3732"/>
                </a:solidFill>
                <a:latin typeface="Avenir LT Std 45 Book"/>
              </a:rPr>
              <a:t>C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réation prévue d’un contrat d’alternance </a:t>
            </a:r>
            <a:r>
              <a:rPr lang="fr-FR" dirty="0">
                <a:solidFill>
                  <a:srgbClr val="3C3732"/>
                </a:solidFill>
                <a:latin typeface="Avenir LT Std 45 Book"/>
              </a:rPr>
              <a:t>l’alternance au FRET SNCF pour </a:t>
            </a:r>
            <a:r>
              <a:rPr lang="fr-FR" dirty="0" smtClean="0">
                <a:solidFill>
                  <a:srgbClr val="3C3732"/>
                </a:solidFill>
                <a:latin typeface="Avenir LT Std 45 Book"/>
              </a:rPr>
              <a:t>une durée de 2 ans </a:t>
            </a:r>
            <a:endParaRPr lang="fr-FR" dirty="0">
              <a:solidFill>
                <a:srgbClr val="3C3732"/>
              </a:solidFill>
              <a:latin typeface="Avenir LT Std 45 Book"/>
            </a:endParaRPr>
          </a:p>
        </p:txBody>
      </p:sp>
    </p:spTree>
    <p:extLst>
      <p:ext uri="{BB962C8B-B14F-4D97-AF65-F5344CB8AC3E}">
        <p14:creationId xmlns:p14="http://schemas.microsoft.com/office/powerpoint/2010/main" val="412733258"/>
      </p:ext>
    </p:extLst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MERCI.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3C2FCC45-255A-404F-A6D6-7B3E33592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4659313"/>
            <a:ext cx="788117" cy="22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slow" advClick="0" advTm="20000">
    <p:wip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NCF_Presentation_16-9_Avenir">
  <a:themeElements>
    <a:clrScheme name="SNCF">
      <a:dk1>
        <a:srgbClr val="3C3732"/>
      </a:dk1>
      <a:lt1>
        <a:sysClr val="window" lastClr="FFFFFF"/>
      </a:lt1>
      <a:dk2>
        <a:srgbClr val="82BE00"/>
      </a:dk2>
      <a:lt2>
        <a:srgbClr val="D2E100"/>
      </a:lt2>
      <a:accent1>
        <a:srgbClr val="009AA6"/>
      </a:accent1>
      <a:accent2>
        <a:srgbClr val="CD0037"/>
      </a:accent2>
      <a:accent3>
        <a:srgbClr val="A0A0A0"/>
      </a:accent3>
      <a:accent4>
        <a:srgbClr val="E05206"/>
      </a:accent4>
      <a:accent5>
        <a:srgbClr val="FFB612"/>
      </a:accent5>
      <a:accent6>
        <a:srgbClr val="A1006B"/>
      </a:accent6>
      <a:hlink>
        <a:srgbClr val="E05206"/>
      </a:hlink>
      <a:folHlink>
        <a:srgbClr val="FFB612"/>
      </a:folHlink>
    </a:clrScheme>
    <a:fontScheme name="SNCF AVENIR">
      <a:majorFont>
        <a:latin typeface="Avenir LT Std 45 Book"/>
        <a:ea typeface=""/>
        <a:cs typeface=""/>
      </a:majorFont>
      <a:minorFont>
        <a:latin typeface="Avenir LT Std 45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Contenus">
  <a:themeElements>
    <a:clrScheme name="SNCF">
      <a:dk1>
        <a:srgbClr val="3C3732"/>
      </a:dk1>
      <a:lt1>
        <a:sysClr val="window" lastClr="FFFFFF"/>
      </a:lt1>
      <a:dk2>
        <a:srgbClr val="82BE00"/>
      </a:dk2>
      <a:lt2>
        <a:srgbClr val="D2E100"/>
      </a:lt2>
      <a:accent1>
        <a:srgbClr val="009AA6"/>
      </a:accent1>
      <a:accent2>
        <a:srgbClr val="CD0037"/>
      </a:accent2>
      <a:accent3>
        <a:srgbClr val="A0A0A0"/>
      </a:accent3>
      <a:accent4>
        <a:srgbClr val="E05206"/>
      </a:accent4>
      <a:accent5>
        <a:srgbClr val="FFB612"/>
      </a:accent5>
      <a:accent6>
        <a:srgbClr val="A1006B"/>
      </a:accent6>
      <a:hlink>
        <a:srgbClr val="E05206"/>
      </a:hlink>
      <a:folHlink>
        <a:srgbClr val="FFB612"/>
      </a:folHlink>
    </a:clrScheme>
    <a:fontScheme name="SNCF AVENIR">
      <a:majorFont>
        <a:latin typeface="Avenir LT Std 45 Book"/>
        <a:ea typeface=""/>
        <a:cs typeface=""/>
      </a:majorFont>
      <a:minorFont>
        <a:latin typeface="Avenir LT Std 45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os">
  <a:themeElements>
    <a:clrScheme name="SNCF">
      <a:dk1>
        <a:srgbClr val="3C3732"/>
      </a:dk1>
      <a:lt1>
        <a:sysClr val="window" lastClr="FFFFFF"/>
      </a:lt1>
      <a:dk2>
        <a:srgbClr val="82BE00"/>
      </a:dk2>
      <a:lt2>
        <a:srgbClr val="D2E100"/>
      </a:lt2>
      <a:accent1>
        <a:srgbClr val="009AA6"/>
      </a:accent1>
      <a:accent2>
        <a:srgbClr val="CD0037"/>
      </a:accent2>
      <a:accent3>
        <a:srgbClr val="A0A0A0"/>
      </a:accent3>
      <a:accent4>
        <a:srgbClr val="E05206"/>
      </a:accent4>
      <a:accent5>
        <a:srgbClr val="FFB612"/>
      </a:accent5>
      <a:accent6>
        <a:srgbClr val="A1006B"/>
      </a:accent6>
      <a:hlink>
        <a:srgbClr val="E05206"/>
      </a:hlink>
      <a:folHlink>
        <a:srgbClr val="FFB612"/>
      </a:folHlink>
    </a:clrScheme>
    <a:fontScheme name="SNCF AVENIR">
      <a:majorFont>
        <a:latin typeface="Avenir LT Std 45 Book"/>
        <a:ea typeface=""/>
        <a:cs typeface=""/>
      </a:majorFont>
      <a:minorFont>
        <a:latin typeface="Avenir LT Std 45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55246E577904A927659C2A85088EC" ma:contentTypeVersion="0" ma:contentTypeDescription="Crée un document." ma:contentTypeScope="" ma:versionID="9fae0ecefaf819205b21ab6e651209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043723848d0f805fbc3fbd7bf262d2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D02D37-A408-4652-9281-ED455A76B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BD72B5B-7348-4A44-972B-D672C4E747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CAFD59-54BE-4B56-BF2D-1340E990858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SNCF_Presentation_16-9_Avenir</Template>
  <TotalTime>2200</TotalTime>
  <Words>698</Words>
  <Application>Microsoft Macintosh PowerPoint</Application>
  <PresentationFormat>Présentation à l'écran (16:9)</PresentationFormat>
  <Paragraphs>210</Paragraphs>
  <Slides>16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SNCF_Presentation_16-9_Avenir</vt:lpstr>
      <vt:lpstr>Contenus</vt:lpstr>
      <vt:lpstr>Dos</vt:lpstr>
      <vt:lpstr>Présentation PowerPoint</vt:lpstr>
      <vt:lpstr>Présentation PowerPoint</vt:lpstr>
      <vt:lpstr>SOMMAIRE</vt:lpstr>
      <vt:lpstr>Présentation PowerPoint</vt:lpstr>
      <vt:lpstr>Présentation PowerPoint</vt:lpstr>
      <vt:lpstr>L’Entreprise</vt:lpstr>
      <vt:lpstr>Développeur web dans…</vt:lpstr>
      <vt:lpstr>Développeur web Dans…</vt:lpstr>
      <vt:lpstr>Développeur web Dans…</vt:lpstr>
      <vt:lpstr>Présentation PowerPoint</vt:lpstr>
      <vt:lpstr> Processus de développement</vt:lpstr>
      <vt:lpstr>Processus de développement</vt:lpstr>
      <vt:lpstr>Présentation PowerPoint</vt:lpstr>
      <vt:lpstr>Bilan</vt:lpstr>
      <vt:lpstr>Bilan</vt:lpstr>
      <vt:lpstr>Présentation PowerPoint</vt:lpstr>
    </vt:vector>
  </TitlesOfParts>
  <Manager>SNCF</Manager>
  <Company>SNCF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SNCF</dc:subject>
  <dc:creator>6413542S</dc:creator>
  <cp:lastModifiedBy>Utilisateur de Microsoft Office</cp:lastModifiedBy>
  <cp:revision>53</cp:revision>
  <dcterms:created xsi:type="dcterms:W3CDTF">2017-05-03T14:00:22Z</dcterms:created>
  <dcterms:modified xsi:type="dcterms:W3CDTF">2021-04-10T00:22:20Z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0x0101002F355246E577904A927659C2A85088EC</vt:lpwstr>
  </property>
</Properties>
</file>